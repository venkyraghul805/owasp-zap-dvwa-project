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5"/>
  </p:notesMasterIdLst>
  <p:handoutMasterIdLst>
    <p:handoutMasterId r:id="rId36"/>
  </p:handoutMasterIdLst>
  <p:sldIdLst>
    <p:sldId id="256" r:id="rId5"/>
    <p:sldId id="299" r:id="rId6"/>
    <p:sldId id="270" r:id="rId7"/>
    <p:sldId id="271" r:id="rId8"/>
    <p:sldId id="298" r:id="rId9"/>
    <p:sldId id="272" r:id="rId10"/>
    <p:sldId id="273" r:id="rId11"/>
    <p:sldId id="276" r:id="rId12"/>
    <p:sldId id="296" r:id="rId13"/>
    <p:sldId id="284" r:id="rId14"/>
    <p:sldId id="275" r:id="rId15"/>
    <p:sldId id="277" r:id="rId16"/>
    <p:sldId id="285" r:id="rId17"/>
    <p:sldId id="269" r:id="rId18"/>
    <p:sldId id="286" r:id="rId19"/>
    <p:sldId id="287" r:id="rId20"/>
    <p:sldId id="288" r:id="rId21"/>
    <p:sldId id="289" r:id="rId22"/>
    <p:sldId id="290" r:id="rId23"/>
    <p:sldId id="291" r:id="rId24"/>
    <p:sldId id="292" r:id="rId25"/>
    <p:sldId id="305" r:id="rId26"/>
    <p:sldId id="293" r:id="rId27"/>
    <p:sldId id="274" r:id="rId28"/>
    <p:sldId id="300" r:id="rId29"/>
    <p:sldId id="301" r:id="rId30"/>
    <p:sldId id="302" r:id="rId31"/>
    <p:sldId id="303" r:id="rId32"/>
    <p:sldId id="295" r:id="rId33"/>
    <p:sldId id="26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8" autoAdjust="0"/>
    <p:restoredTop sz="94641" autoAdjust="0"/>
  </p:normalViewPr>
  <p:slideViewPr>
    <p:cSldViewPr snapToGrid="0">
      <p:cViewPr varScale="1">
        <p:scale>
          <a:sx n="67" d="100"/>
          <a:sy n="67" d="100"/>
        </p:scale>
        <p:origin x="894" y="72"/>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FB87-790C-4850-A90C-12C5FF4B94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8127921-F9C4-44F3-AC5F-130B6A406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E59275-AFE1-4999-B78A-D0D76B9F2B0B}" type="datetimeFigureOut">
              <a:rPr lang="en-US" smtClean="0"/>
              <a:t>4/20/2026</a:t>
            </a:fld>
            <a:endParaRPr lang="en-US" dirty="0"/>
          </a:p>
        </p:txBody>
      </p:sp>
      <p:sp>
        <p:nvSpPr>
          <p:cNvPr id="4" name="Footer Placeholder 3">
            <a:extLst>
              <a:ext uri="{FF2B5EF4-FFF2-40B4-BE49-F238E27FC236}">
                <a16:creationId xmlns:a16="http://schemas.microsoft.com/office/drawing/2014/main" id="{4765E047-F1CB-4066-A459-9EDC95F2E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A77EF5-5277-4BAF-8BB4-2E0210398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68C69-0C3E-40A2-B4A0-B2C8B71D8E3A}" type="slidenum">
              <a:rPr lang="en-US" smtClean="0"/>
              <a:t>‹#›</a:t>
            </a:fld>
            <a:endParaRPr lang="en-US" dirty="0"/>
          </a:p>
        </p:txBody>
      </p:sp>
    </p:spTree>
    <p:extLst>
      <p:ext uri="{BB962C8B-B14F-4D97-AF65-F5344CB8AC3E}">
        <p14:creationId xmlns:p14="http://schemas.microsoft.com/office/powerpoint/2010/main" val="2051586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ADD7A-FE61-48EE-BE0E-8546E5401374}" type="datetimeFigureOut">
              <a:rPr lang="en-US" smtClean="0"/>
              <a:t>4/20/2026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00EEB-8338-48D7-8EE8-EE0082EF7602}" type="slidenum">
              <a:rPr lang="en-US" smtClean="0"/>
              <a:t>‹#›</a:t>
            </a:fld>
            <a:endParaRPr lang="en-US" dirty="0"/>
          </a:p>
        </p:txBody>
      </p:sp>
    </p:spTree>
    <p:extLst>
      <p:ext uri="{BB962C8B-B14F-4D97-AF65-F5344CB8AC3E}">
        <p14:creationId xmlns:p14="http://schemas.microsoft.com/office/powerpoint/2010/main" val="376777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a:t>
            </a:fld>
            <a:endParaRPr lang="en-US" dirty="0"/>
          </a:p>
        </p:txBody>
      </p:sp>
    </p:spTree>
    <p:extLst>
      <p:ext uri="{BB962C8B-B14F-4D97-AF65-F5344CB8AC3E}">
        <p14:creationId xmlns:p14="http://schemas.microsoft.com/office/powerpoint/2010/main" val="4005338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30</a:t>
            </a:fld>
            <a:endParaRPr lang="en-US" dirty="0"/>
          </a:p>
        </p:txBody>
      </p:sp>
    </p:spTree>
    <p:extLst>
      <p:ext uri="{BB962C8B-B14F-4D97-AF65-F5344CB8AC3E}">
        <p14:creationId xmlns:p14="http://schemas.microsoft.com/office/powerpoint/2010/main" val="3672966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4/20/2026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4/20/2026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4/20/2026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127.0.0.1:8081/"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127.0.0.1:8081/"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ZAP%20by%20Checkmarx%20Scanning%20Report.html"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5" name="Picture 4" descr="chain links">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blip>
          <a:srcRect t="23391" r="9091"/>
          <a:stretch/>
        </p:blipFill>
        <p:spPr>
          <a:xfrm>
            <a:off x="103927" y="99414"/>
            <a:ext cx="11984146" cy="6857990"/>
          </a:xfrm>
          <a:prstGeom prst="rect">
            <a:avLst/>
          </a:prstGeom>
          <a:ln>
            <a:noFill/>
          </a:ln>
          <a:effectLst>
            <a:softEdge rad="112500"/>
          </a:effectLst>
        </p:spPr>
      </p:pic>
      <p:sp>
        <p:nvSpPr>
          <p:cNvPr id="2" name="Title 1">
            <a:extLst>
              <a:ext uri="{FF2B5EF4-FFF2-40B4-BE49-F238E27FC236}">
                <a16:creationId xmlns:a16="http://schemas.microsoft.com/office/drawing/2014/main" id="{3D30D32A-359B-41BB-9746-2CF3A21EEFFC}"/>
              </a:ext>
            </a:extLst>
          </p:cNvPr>
          <p:cNvSpPr>
            <a:spLocks noGrp="1"/>
          </p:cNvSpPr>
          <p:nvPr>
            <p:ph type="ctrTitle"/>
          </p:nvPr>
        </p:nvSpPr>
        <p:spPr>
          <a:xfrm>
            <a:off x="1411867" y="383459"/>
            <a:ext cx="8825658" cy="2435537"/>
          </a:xfrm>
        </p:spPr>
        <p:txBody>
          <a:bodyPr>
            <a:normAutofit/>
          </a:bodyPr>
          <a:lstStyle/>
          <a:p>
            <a:pPr algn="ctr"/>
            <a:r>
              <a:rPr lang="en-US" sz="5400" b="1" dirty="0"/>
              <a:t> OWASP ZAP </a:t>
            </a:r>
            <a:endParaRPr lang="ru-RU" sz="5400" b="1" dirty="0"/>
          </a:p>
        </p:txBody>
      </p:sp>
      <p:sp>
        <p:nvSpPr>
          <p:cNvPr id="3" name="Subtitle 2">
            <a:extLst>
              <a:ext uri="{FF2B5EF4-FFF2-40B4-BE49-F238E27FC236}">
                <a16:creationId xmlns:a16="http://schemas.microsoft.com/office/drawing/2014/main" id="{B4CA222A-88BC-48F4-9AE8-2115B7D1E6DC}"/>
              </a:ext>
            </a:extLst>
          </p:cNvPr>
          <p:cNvSpPr>
            <a:spLocks noGrp="1"/>
          </p:cNvSpPr>
          <p:nvPr>
            <p:ph type="subTitle" idx="1"/>
          </p:nvPr>
        </p:nvSpPr>
        <p:spPr>
          <a:xfrm>
            <a:off x="103927" y="4039004"/>
            <a:ext cx="8825658" cy="861420"/>
          </a:xfrm>
        </p:spPr>
        <p:txBody>
          <a:bodyPr>
            <a:normAutofit fontScale="25000" lnSpcReduction="20000"/>
          </a:bodyPr>
          <a:lstStyle/>
          <a:p>
            <a:pPr algn="just"/>
            <a:r>
              <a:rPr lang="en-US" sz="9600" b="1" dirty="0"/>
              <a:t>Project Id - PTID-CSPP-FEB-26-340                                   </a:t>
            </a:r>
          </a:p>
          <a:p>
            <a:r>
              <a:rPr lang="en-US" dirty="0"/>
              <a:t>                                                                                   </a:t>
            </a:r>
          </a:p>
          <a:p>
            <a:r>
              <a:rPr lang="en-US" sz="9600" b="1" dirty="0"/>
              <a:t>Project done by</a:t>
            </a:r>
          </a:p>
          <a:p>
            <a:r>
              <a:rPr lang="en-US" sz="8000" b="1" dirty="0"/>
              <a:t>VenkatASUBRAMANIAM R</a:t>
            </a:r>
          </a:p>
          <a:p>
            <a:r>
              <a:rPr lang="en-US" sz="8000" b="1" dirty="0"/>
              <a:t>RV PARTHIBAN </a:t>
            </a:r>
          </a:p>
          <a:p>
            <a:r>
              <a:rPr lang="en-US" sz="8000" b="1" dirty="0"/>
              <a:t>SAKTHIVEL G</a:t>
            </a:r>
          </a:p>
          <a:p>
            <a:r>
              <a:rPr lang="en-US" sz="8000" b="1" dirty="0"/>
              <a:t>HARI VIKRAM</a:t>
            </a:r>
            <a:r>
              <a:rPr lang="en-US" sz="8000" dirty="0"/>
              <a:t>  </a:t>
            </a:r>
          </a:p>
          <a:p>
            <a:r>
              <a:rPr lang="en-US" dirty="0"/>
              <a:t>   </a:t>
            </a:r>
          </a:p>
        </p:txBody>
      </p:sp>
      <p:sp>
        <p:nvSpPr>
          <p:cNvPr id="20" name="Rectangle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300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B569-B1D5-1258-62E9-ECB2C59735DA}"/>
              </a:ext>
            </a:extLst>
          </p:cNvPr>
          <p:cNvSpPr>
            <a:spLocks noGrp="1"/>
          </p:cNvSpPr>
          <p:nvPr>
            <p:ph type="title"/>
          </p:nvPr>
        </p:nvSpPr>
        <p:spPr>
          <a:xfrm>
            <a:off x="646111" y="452718"/>
            <a:ext cx="9404723" cy="1125359"/>
          </a:xfrm>
        </p:spPr>
        <p:txBody>
          <a:bodyPr/>
          <a:lstStyle/>
          <a:p>
            <a:pPr algn="ctr"/>
            <a:r>
              <a:rPr lang="en-US" b="1" dirty="0"/>
              <a:t>VULNERABILITY </a:t>
            </a:r>
          </a:p>
        </p:txBody>
      </p:sp>
      <p:sp>
        <p:nvSpPr>
          <p:cNvPr id="3" name="Content Placeholder 2">
            <a:extLst>
              <a:ext uri="{FF2B5EF4-FFF2-40B4-BE49-F238E27FC236}">
                <a16:creationId xmlns:a16="http://schemas.microsoft.com/office/drawing/2014/main" id="{1748F061-A676-AD63-8BBB-6068602C7CF6}"/>
              </a:ext>
            </a:extLst>
          </p:cNvPr>
          <p:cNvSpPr>
            <a:spLocks noGrp="1"/>
          </p:cNvSpPr>
          <p:nvPr>
            <p:ph idx="1"/>
          </p:nvPr>
        </p:nvSpPr>
        <p:spPr>
          <a:xfrm>
            <a:off x="1103312" y="2052918"/>
            <a:ext cx="10016972" cy="4539611"/>
          </a:xfrm>
        </p:spPr>
        <p:txBody>
          <a:bodyPr>
            <a:normAutofit/>
          </a:bodyPr>
          <a:lstStyle/>
          <a:p>
            <a:pPr marL="0" indent="0">
              <a:buNone/>
            </a:pPr>
            <a:r>
              <a:rPr lang="en-US" sz="2400" dirty="0"/>
              <a:t>In cybersecurity, a vulnerability is a weakness or flaw in a system, network, application, or process that an attacker can exploit to gain unauthorized access, steal data, or disrupt operations.</a:t>
            </a:r>
          </a:p>
          <a:p>
            <a:pPr marL="0" indent="0">
              <a:buNone/>
            </a:pPr>
            <a:r>
              <a:rPr lang="en-US" sz="2400" dirty="0"/>
              <a:t>Types of vulnerabilities:</a:t>
            </a:r>
          </a:p>
          <a:p>
            <a:pPr>
              <a:buFont typeface="Arial" panose="020B0604020202020204" pitchFamily="34" charset="0"/>
              <a:buChar char="•"/>
            </a:pPr>
            <a:r>
              <a:rPr lang="en-US" sz="2400" dirty="0"/>
              <a:t>Software Vulnerabilities(e.g., Bugs, SQLi, XSS).</a:t>
            </a:r>
          </a:p>
          <a:p>
            <a:pPr>
              <a:buFont typeface="Arial" panose="020B0604020202020204" pitchFamily="34" charset="0"/>
              <a:buChar char="•"/>
            </a:pPr>
            <a:r>
              <a:rPr lang="en-US" sz="2400" dirty="0"/>
              <a:t>Network vulnerabilities(e.g., open ports, weak wifi security, misconfigured firewall).</a:t>
            </a:r>
          </a:p>
          <a:p>
            <a:pPr>
              <a:buFont typeface="Arial" panose="020B0604020202020204" pitchFamily="34" charset="0"/>
              <a:buChar char="•"/>
            </a:pPr>
            <a:r>
              <a:rPr lang="en-US" sz="2400" dirty="0"/>
              <a:t>Human Vulnerabilities(e.g., weak passwords, phishing emails).</a:t>
            </a:r>
          </a:p>
          <a:p>
            <a:pPr>
              <a:buFont typeface="Arial" panose="020B0604020202020204" pitchFamily="34" charset="0"/>
              <a:buChar char="•"/>
            </a:pPr>
            <a:r>
              <a:rPr lang="en-US" sz="2400" dirty="0"/>
              <a:t>System/Configuration Vulnerabilities(e.g., Default credentials, outdated software, missing security patches).</a:t>
            </a:r>
          </a:p>
          <a:p>
            <a:pPr>
              <a:buFont typeface="Arial" panose="020B0604020202020204" pitchFamily="34" charset="0"/>
              <a:buChar char="•"/>
            </a:pPr>
            <a:endParaRPr lang="en-US" sz="2400" dirty="0"/>
          </a:p>
          <a:p>
            <a:pPr marL="0" indent="0">
              <a:buNone/>
            </a:pPr>
            <a:endParaRPr lang="en-US" dirty="0"/>
          </a:p>
        </p:txBody>
      </p:sp>
    </p:spTree>
    <p:extLst>
      <p:ext uri="{BB962C8B-B14F-4D97-AF65-F5344CB8AC3E}">
        <p14:creationId xmlns:p14="http://schemas.microsoft.com/office/powerpoint/2010/main" val="2951858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7E418-31BA-BF59-24FE-3B6FD4133D57}"/>
              </a:ext>
            </a:extLst>
          </p:cNvPr>
          <p:cNvSpPr>
            <a:spLocks noGrp="1"/>
          </p:cNvSpPr>
          <p:nvPr>
            <p:ph type="title"/>
          </p:nvPr>
        </p:nvSpPr>
        <p:spPr>
          <a:xfrm>
            <a:off x="646111" y="364228"/>
            <a:ext cx="9404723" cy="1036869"/>
          </a:xfrm>
        </p:spPr>
        <p:txBody>
          <a:bodyPr/>
          <a:lstStyle/>
          <a:p>
            <a:pPr algn="ctr"/>
            <a:r>
              <a:rPr lang="en-IN" b="1" dirty="0"/>
              <a:t> OWASP ZAP</a:t>
            </a:r>
            <a:r>
              <a:rPr lang="en-IN" dirty="0"/>
              <a:t> </a:t>
            </a:r>
          </a:p>
        </p:txBody>
      </p:sp>
      <p:sp>
        <p:nvSpPr>
          <p:cNvPr id="3" name="Content Placeholder 2">
            <a:extLst>
              <a:ext uri="{FF2B5EF4-FFF2-40B4-BE49-F238E27FC236}">
                <a16:creationId xmlns:a16="http://schemas.microsoft.com/office/drawing/2014/main" id="{9316879A-7839-5AB7-E478-A7EB54D87A55}"/>
              </a:ext>
            </a:extLst>
          </p:cNvPr>
          <p:cNvSpPr>
            <a:spLocks noGrp="1"/>
          </p:cNvSpPr>
          <p:nvPr>
            <p:ph idx="1"/>
          </p:nvPr>
        </p:nvSpPr>
        <p:spPr>
          <a:xfrm>
            <a:off x="778847" y="1570702"/>
            <a:ext cx="10356185" cy="5051324"/>
          </a:xfrm>
        </p:spPr>
        <p:txBody>
          <a:bodyPr>
            <a:noAutofit/>
          </a:bodyPr>
          <a:lstStyle/>
          <a:p>
            <a:pPr>
              <a:buFont typeface="Arial" panose="020B0604020202020204" pitchFamily="34" charset="0"/>
              <a:buChar char="•"/>
            </a:pPr>
            <a:r>
              <a:rPr lang="en-US" sz="2400" dirty="0"/>
              <a:t>OWASP ZAP (Zed Attack Proxy) is an open-source web application security testing tool.</a:t>
            </a:r>
          </a:p>
          <a:p>
            <a:pPr>
              <a:buFont typeface="Arial" panose="020B0604020202020204" pitchFamily="34" charset="0"/>
              <a:buChar char="•"/>
            </a:pPr>
            <a:r>
              <a:rPr lang="en-US" sz="2400" dirty="0"/>
              <a:t>It is used to identify vulnerabilities in web applications such as XSS, SQL Injection, broken authentication and session-related issues.</a:t>
            </a:r>
          </a:p>
          <a:p>
            <a:pPr>
              <a:buFont typeface="Arial" panose="020B0604020202020204" pitchFamily="34" charset="0"/>
              <a:buChar char="•"/>
            </a:pPr>
            <a:r>
              <a:rPr lang="en-US" sz="2400" dirty="0"/>
              <a:t>ZAP supports both manual testing and automated scanning for security analysis.</a:t>
            </a:r>
          </a:p>
          <a:p>
            <a:pPr>
              <a:buFont typeface="Arial" panose="020B0604020202020204" pitchFamily="34" charset="0"/>
              <a:buChar char="•"/>
            </a:pPr>
            <a:r>
              <a:rPr lang="en-US" sz="2400" dirty="0"/>
              <a:t>It helps security professionals, students and ethical hackers to analyze and test web application security.</a:t>
            </a:r>
          </a:p>
          <a:p>
            <a:pPr>
              <a:buFont typeface="Arial" panose="020B0604020202020204" pitchFamily="34" charset="0"/>
              <a:buChar char="•"/>
            </a:pPr>
            <a:r>
              <a:rPr lang="en-US" sz="2400" dirty="0"/>
              <a:t>In this project, OWASP ZAP was used to scan the DVWA (Damn Vulnerable Web Application) environment and detect security weaknesses.</a:t>
            </a:r>
            <a:endParaRPr lang="en-IN" sz="2400" dirty="0"/>
          </a:p>
        </p:txBody>
      </p:sp>
    </p:spTree>
    <p:extLst>
      <p:ext uri="{BB962C8B-B14F-4D97-AF65-F5344CB8AC3E}">
        <p14:creationId xmlns:p14="http://schemas.microsoft.com/office/powerpoint/2010/main" val="682156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B7737-2A33-D7CD-6D49-A6BE07E42124}"/>
              </a:ext>
            </a:extLst>
          </p:cNvPr>
          <p:cNvSpPr>
            <a:spLocks noGrp="1"/>
          </p:cNvSpPr>
          <p:nvPr>
            <p:ph type="title"/>
          </p:nvPr>
        </p:nvSpPr>
        <p:spPr>
          <a:xfrm>
            <a:off x="646111" y="452718"/>
            <a:ext cx="9404723" cy="1020976"/>
          </a:xfrm>
        </p:spPr>
        <p:txBody>
          <a:bodyPr/>
          <a:lstStyle/>
          <a:p>
            <a:pPr algn="ctr"/>
            <a:r>
              <a:rPr lang="en-IN" b="1" dirty="0"/>
              <a:t>OWASP SCAN TYPES</a:t>
            </a:r>
            <a:br>
              <a:rPr lang="en-IN" b="1" dirty="0"/>
            </a:br>
            <a:endParaRPr lang="en-IN" b="1" dirty="0"/>
          </a:p>
        </p:txBody>
      </p:sp>
      <p:sp>
        <p:nvSpPr>
          <p:cNvPr id="3" name="Content Placeholder 2">
            <a:extLst>
              <a:ext uri="{FF2B5EF4-FFF2-40B4-BE49-F238E27FC236}">
                <a16:creationId xmlns:a16="http://schemas.microsoft.com/office/drawing/2014/main" id="{56964915-F8BC-1307-2DEE-3ECDD0B9780B}"/>
              </a:ext>
            </a:extLst>
          </p:cNvPr>
          <p:cNvSpPr>
            <a:spLocks noGrp="1"/>
          </p:cNvSpPr>
          <p:nvPr>
            <p:ph idx="1"/>
          </p:nvPr>
        </p:nvSpPr>
        <p:spPr>
          <a:xfrm>
            <a:off x="1059426" y="1814053"/>
            <a:ext cx="10073147" cy="4719482"/>
          </a:xfrm>
        </p:spPr>
        <p:txBody>
          <a:bodyPr>
            <a:noAutofit/>
          </a:bodyPr>
          <a:lstStyle/>
          <a:p>
            <a:pPr>
              <a:buFont typeface="Arial" panose="020B0604020202020204" pitchFamily="34" charset="0"/>
              <a:buChar char="•"/>
            </a:pPr>
            <a:r>
              <a:rPr lang="en-US" sz="2400" dirty="0"/>
              <a:t>Manual Explore (Used to browse the target web application through ZAP). </a:t>
            </a:r>
          </a:p>
          <a:p>
            <a:pPr>
              <a:buFont typeface="Arial" panose="020B0604020202020204" pitchFamily="34" charset="0"/>
              <a:buChar char="•"/>
            </a:pPr>
            <a:r>
              <a:rPr lang="en-US" sz="2400" dirty="0"/>
              <a:t>Spider (Automatically discovers pages, links and input fields in the web application). </a:t>
            </a:r>
          </a:p>
          <a:p>
            <a:pPr>
              <a:buFont typeface="Arial" panose="020B0604020202020204" pitchFamily="34" charset="0"/>
              <a:buChar char="•"/>
            </a:pPr>
            <a:r>
              <a:rPr lang="en-US" sz="2400" dirty="0"/>
              <a:t>Active Scan (Performs attacks on the target to identify vulnerabilities like XSS and SQL Injection). </a:t>
            </a:r>
          </a:p>
          <a:p>
            <a:pPr>
              <a:buFont typeface="Arial" panose="020B0604020202020204" pitchFamily="34" charset="0"/>
              <a:buChar char="•"/>
            </a:pPr>
            <a:r>
              <a:rPr lang="en-US" sz="2400" dirty="0"/>
              <a:t>Passive Scan (Analyzes traffic without sending harmful payloads to the application). </a:t>
            </a:r>
          </a:p>
          <a:p>
            <a:pPr>
              <a:buFont typeface="Arial" panose="020B0604020202020204" pitchFamily="34" charset="0"/>
              <a:buChar char="•"/>
            </a:pPr>
            <a:r>
              <a:rPr lang="en-US" sz="2400" dirty="0"/>
              <a:t>History Tab (Stores all captured requests and responses during testing). </a:t>
            </a:r>
          </a:p>
        </p:txBody>
      </p:sp>
    </p:spTree>
    <p:extLst>
      <p:ext uri="{BB962C8B-B14F-4D97-AF65-F5344CB8AC3E}">
        <p14:creationId xmlns:p14="http://schemas.microsoft.com/office/powerpoint/2010/main" val="3399611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A9B0B5-97DD-7317-EAE3-7AEF2BB81F8E}"/>
              </a:ext>
            </a:extLst>
          </p:cNvPr>
          <p:cNvSpPr>
            <a:spLocks noGrp="1"/>
          </p:cNvSpPr>
          <p:nvPr>
            <p:ph idx="1"/>
          </p:nvPr>
        </p:nvSpPr>
        <p:spPr>
          <a:xfrm>
            <a:off x="882086" y="1386348"/>
            <a:ext cx="10223449" cy="4881717"/>
          </a:xfrm>
        </p:spPr>
        <p:txBody>
          <a:bodyPr>
            <a:normAutofit/>
          </a:bodyPr>
          <a:lstStyle/>
          <a:p>
            <a:pPr>
              <a:buFont typeface="Arial" panose="020B0604020202020204" pitchFamily="34" charset="0"/>
              <a:buChar char="•"/>
            </a:pPr>
            <a:r>
              <a:rPr lang="en-US" sz="2400" dirty="0"/>
              <a:t>Sites Tree (Displays the structure of the target website and its pages). </a:t>
            </a:r>
          </a:p>
          <a:p>
            <a:pPr>
              <a:buFont typeface="Arial" panose="020B0604020202020204" pitchFamily="34" charset="0"/>
              <a:buChar char="•"/>
            </a:pPr>
            <a:r>
              <a:rPr lang="en-US" sz="2400" dirty="0"/>
              <a:t>Alerts Tab (Shows detected vulnerabilities with severity levels such as Low, Medium, and High). </a:t>
            </a:r>
          </a:p>
          <a:p>
            <a:pPr>
              <a:buFont typeface="Arial" panose="020B0604020202020204" pitchFamily="34" charset="0"/>
              <a:buChar char="•"/>
            </a:pPr>
            <a:r>
              <a:rPr lang="en-US" sz="2400" dirty="0"/>
              <a:t>Forced User Mode (Ensures scanning is performed as an authenticated user). </a:t>
            </a:r>
          </a:p>
          <a:p>
            <a:pPr>
              <a:buFont typeface="Arial" panose="020B0604020202020204" pitchFamily="34" charset="0"/>
              <a:buChar char="•"/>
            </a:pPr>
            <a:r>
              <a:rPr lang="en-US" sz="2400" dirty="0"/>
              <a:t>Context (Defines the target scope and authentication settings for the application). </a:t>
            </a:r>
          </a:p>
          <a:p>
            <a:pPr>
              <a:buFont typeface="Arial" panose="020B0604020202020204" pitchFamily="34" charset="0"/>
              <a:buChar char="•"/>
            </a:pPr>
            <a:r>
              <a:rPr lang="en-US" sz="2400" dirty="0"/>
              <a:t>Authentication (Used to configure login handling for authenticated scanning). </a:t>
            </a:r>
          </a:p>
          <a:p>
            <a:endParaRPr lang="en-US" sz="2400" dirty="0"/>
          </a:p>
        </p:txBody>
      </p:sp>
    </p:spTree>
    <p:extLst>
      <p:ext uri="{BB962C8B-B14F-4D97-AF65-F5344CB8AC3E}">
        <p14:creationId xmlns:p14="http://schemas.microsoft.com/office/powerpoint/2010/main" val="561413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BBE7C-4C0E-AA53-88E0-719E84BCF27D}"/>
              </a:ext>
            </a:extLst>
          </p:cNvPr>
          <p:cNvSpPr>
            <a:spLocks noGrp="1"/>
          </p:cNvSpPr>
          <p:nvPr>
            <p:ph type="title"/>
          </p:nvPr>
        </p:nvSpPr>
        <p:spPr>
          <a:xfrm>
            <a:off x="646111" y="333155"/>
            <a:ext cx="9404723" cy="1007372"/>
          </a:xfrm>
        </p:spPr>
        <p:txBody>
          <a:bodyPr/>
          <a:lstStyle/>
          <a:p>
            <a:pPr algn="ctr"/>
            <a:r>
              <a:rPr lang="en-IN" b="1" dirty="0"/>
              <a:t>DOCKER</a:t>
            </a:r>
          </a:p>
        </p:txBody>
      </p:sp>
      <p:sp>
        <p:nvSpPr>
          <p:cNvPr id="3" name="Content Placeholder 2">
            <a:extLst>
              <a:ext uri="{FF2B5EF4-FFF2-40B4-BE49-F238E27FC236}">
                <a16:creationId xmlns:a16="http://schemas.microsoft.com/office/drawing/2014/main" id="{262D65E8-2DF3-C05D-7C42-DCBFDC479E86}"/>
              </a:ext>
            </a:extLst>
          </p:cNvPr>
          <p:cNvSpPr>
            <a:spLocks noGrp="1"/>
          </p:cNvSpPr>
          <p:nvPr>
            <p:ph idx="1"/>
          </p:nvPr>
        </p:nvSpPr>
        <p:spPr>
          <a:xfrm>
            <a:off x="1095379" y="1340527"/>
            <a:ext cx="10001242" cy="5369989"/>
          </a:xfrm>
        </p:spPr>
        <p:txBody>
          <a:bodyPr>
            <a:noAutofit/>
          </a:bodyPr>
          <a:lstStyle/>
          <a:p>
            <a:pPr>
              <a:buFont typeface="Arial" panose="020B0604020202020204" pitchFamily="34" charset="0"/>
              <a:buChar char="•"/>
            </a:pPr>
            <a:r>
              <a:rPr lang="en-US" sz="2400" dirty="0"/>
              <a:t>Docker is a containerization platform used to run applications in isolated environments. </a:t>
            </a:r>
          </a:p>
          <a:p>
            <a:pPr>
              <a:buFont typeface="Arial" panose="020B0604020202020204" pitchFamily="34" charset="0"/>
              <a:buChar char="•"/>
            </a:pPr>
            <a:r>
              <a:rPr lang="en-US" sz="2400" dirty="0"/>
              <a:t>It helps in deploying applications quickly without complex installation steps. </a:t>
            </a:r>
          </a:p>
          <a:p>
            <a:pPr>
              <a:buFont typeface="Arial" panose="020B0604020202020204" pitchFamily="34" charset="0"/>
              <a:buChar char="•"/>
            </a:pPr>
            <a:r>
              <a:rPr lang="en-US" sz="2400" dirty="0"/>
              <a:t>Docker ensures the application runs consistently across different systems. </a:t>
            </a:r>
          </a:p>
          <a:p>
            <a:pPr>
              <a:buFont typeface="Arial" panose="020B0604020202020204" pitchFamily="34" charset="0"/>
              <a:buChar char="•"/>
            </a:pPr>
            <a:r>
              <a:rPr lang="en-US" sz="2400" dirty="0"/>
              <a:t>In this project, Docker was used to deploy the DVWA environment for security testing. </a:t>
            </a:r>
          </a:p>
          <a:p>
            <a:pPr>
              <a:buFont typeface="Arial" panose="020B0604020202020204" pitchFamily="34" charset="0"/>
              <a:buChar char="•"/>
            </a:pPr>
            <a:r>
              <a:rPr lang="en-US" sz="2400" dirty="0"/>
              <a:t>It provides a safe and controlled lab setup for vulnerability assessment.</a:t>
            </a:r>
          </a:p>
          <a:p>
            <a:pPr>
              <a:buFont typeface="Arial" panose="020B0604020202020204" pitchFamily="34" charset="0"/>
              <a:buChar char="•"/>
            </a:pPr>
            <a:r>
              <a:rPr lang="en-US" sz="2400" dirty="0"/>
              <a:t>Docker images simplify the process of setting up testing applications.</a:t>
            </a:r>
            <a:endParaRPr lang="en-IN" sz="2400" dirty="0"/>
          </a:p>
        </p:txBody>
      </p:sp>
    </p:spTree>
    <p:extLst>
      <p:ext uri="{BB962C8B-B14F-4D97-AF65-F5344CB8AC3E}">
        <p14:creationId xmlns:p14="http://schemas.microsoft.com/office/powerpoint/2010/main" val="991492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AA97-960D-4121-5D33-0D743FBE1A69}"/>
              </a:ext>
            </a:extLst>
          </p:cNvPr>
          <p:cNvSpPr>
            <a:spLocks noGrp="1"/>
          </p:cNvSpPr>
          <p:nvPr>
            <p:ph type="title"/>
          </p:nvPr>
        </p:nvSpPr>
        <p:spPr>
          <a:xfrm>
            <a:off x="646111" y="452718"/>
            <a:ext cx="9404723" cy="904134"/>
          </a:xfrm>
        </p:spPr>
        <p:txBody>
          <a:bodyPr/>
          <a:lstStyle/>
          <a:p>
            <a:pPr algn="ctr"/>
            <a:r>
              <a:rPr lang="en-SG" b="1" dirty="0"/>
              <a:t>DOCKER AND OWASP ZAP SETUP</a:t>
            </a:r>
            <a:endParaRPr lang="en-IN" b="1" dirty="0"/>
          </a:p>
        </p:txBody>
      </p:sp>
      <p:sp>
        <p:nvSpPr>
          <p:cNvPr id="3" name="Content Placeholder 2">
            <a:extLst>
              <a:ext uri="{FF2B5EF4-FFF2-40B4-BE49-F238E27FC236}">
                <a16:creationId xmlns:a16="http://schemas.microsoft.com/office/drawing/2014/main" id="{BC8F2491-D579-67CE-2375-A83698DE1E1B}"/>
              </a:ext>
            </a:extLst>
          </p:cNvPr>
          <p:cNvSpPr>
            <a:spLocks noGrp="1"/>
          </p:cNvSpPr>
          <p:nvPr>
            <p:ph idx="1"/>
          </p:nvPr>
        </p:nvSpPr>
        <p:spPr>
          <a:xfrm>
            <a:off x="988142" y="1622323"/>
            <a:ext cx="10117393" cy="5039031"/>
          </a:xfrm>
        </p:spPr>
        <p:txBody>
          <a:bodyPr>
            <a:normAutofit/>
          </a:bodyPr>
          <a:lstStyle/>
          <a:p>
            <a:pPr marL="0" indent="0">
              <a:buNone/>
            </a:pPr>
            <a:r>
              <a:rPr lang="en-US" sz="2400" dirty="0"/>
              <a:t>Docker was used to deploy the DVWA application in a controlled local environment.</a:t>
            </a:r>
            <a:br>
              <a:rPr lang="en-US" sz="2400" dirty="0"/>
            </a:br>
            <a:r>
              <a:rPr lang="en-US" sz="2400" dirty="0"/>
              <a:t>Setup includes:</a:t>
            </a:r>
          </a:p>
          <a:p>
            <a:pPr>
              <a:buFont typeface="Arial" panose="020B0604020202020204" pitchFamily="34" charset="0"/>
              <a:buChar char="•"/>
            </a:pPr>
            <a:r>
              <a:rPr lang="en-US" sz="2400" dirty="0"/>
              <a:t>Docker Desktop (used to run the application container).</a:t>
            </a:r>
          </a:p>
          <a:p>
            <a:pPr>
              <a:buFont typeface="Arial" panose="020B0604020202020204" pitchFamily="34" charset="0"/>
              <a:buChar char="•"/>
            </a:pPr>
            <a:r>
              <a:rPr lang="en-US" sz="2400" dirty="0"/>
              <a:t>DVWA (used as the vulnerable web application for testing).</a:t>
            </a:r>
          </a:p>
          <a:p>
            <a:pPr>
              <a:buFont typeface="Arial" panose="020B0604020202020204" pitchFamily="34" charset="0"/>
              <a:buChar char="•"/>
            </a:pPr>
            <a:r>
              <a:rPr lang="en-US" sz="2400" dirty="0"/>
              <a:t>OWASP ZAP (used to analyze and scan the application for security vulnerabilities).</a:t>
            </a:r>
          </a:p>
          <a:p>
            <a:pPr marL="0" indent="0">
              <a:buNone/>
            </a:pPr>
            <a:r>
              <a:rPr lang="en-US" sz="2400" dirty="0"/>
              <a:t>The setup was completed by running DVWA inside Docker, after deployment the application was accessed through the local browser. OWASP ZAP was then used to configure authentication, capture requests, and perform vulnerability scanning.</a:t>
            </a:r>
            <a:endParaRPr lang="en-IN" sz="2400" dirty="0"/>
          </a:p>
        </p:txBody>
      </p:sp>
    </p:spTree>
    <p:extLst>
      <p:ext uri="{BB962C8B-B14F-4D97-AF65-F5344CB8AC3E}">
        <p14:creationId xmlns:p14="http://schemas.microsoft.com/office/powerpoint/2010/main" val="3501384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246040"/>
            <a:ext cx="9404723" cy="825722"/>
          </a:xfrm>
        </p:spPr>
        <p:txBody>
          <a:bodyPr/>
          <a:lstStyle/>
          <a:p>
            <a:pPr algn="ctr"/>
            <a:r>
              <a:rPr lang="en-SG" b="1" dirty="0"/>
              <a:t>DVWA DEPLOYMENT</a:t>
            </a:r>
            <a:endParaRPr lang="en-US" b="1" dirty="0"/>
          </a:p>
        </p:txBody>
      </p:sp>
      <p:sp>
        <p:nvSpPr>
          <p:cNvPr id="4" name="Description"/>
          <p:cNvSpPr>
            <a:spLocks noGrp="1"/>
          </p:cNvSpPr>
          <p:nvPr/>
        </p:nvSpPr>
        <p:spPr>
          <a:xfrm>
            <a:off x="599046" y="5279923"/>
            <a:ext cx="9577340" cy="1120877"/>
          </a:xfrm>
          <a:prstGeom prst="rect">
            <a:avLst/>
          </a:prstGeom>
          <a:solidFill>
            <a:schemeClr val="accent1">
              <a:alpha val="20000"/>
            </a:schemeClr>
          </a:solidFill>
        </p:spPr>
        <p:txBody>
          <a:bodyPr>
            <a:noAutofit/>
          </a:bodyPr>
          <a:lstStyle/>
          <a:p>
            <a:pPr marL="262890" indent="-171450">
              <a:buFont typeface="Arial" panose="020B0604020202020204" pitchFamily="34" charset="0"/>
              <a:buChar char="•"/>
            </a:pPr>
            <a:r>
              <a:rPr lang="en-US" sz="1200" dirty="0"/>
              <a:t>The command docker run -d -p 8081:80 vulnerables/web-</a:t>
            </a:r>
            <a:r>
              <a:rPr lang="en-US" sz="1200" dirty="0" err="1"/>
              <a:t>dvwa</a:t>
            </a:r>
            <a:r>
              <a:rPr lang="en-US" sz="1200" dirty="0"/>
              <a:t> was used to start the DVWA container in detached mode.</a:t>
            </a:r>
          </a:p>
          <a:p>
            <a:pPr marL="262890" indent="-171450">
              <a:buFont typeface="Arial" panose="020B0604020202020204" pitchFamily="34" charset="0"/>
              <a:buChar char="•"/>
            </a:pPr>
            <a:r>
              <a:rPr lang="en-US" sz="1200" dirty="0"/>
              <a:t>Port </a:t>
            </a:r>
            <a:r>
              <a:rPr lang="en-US" sz="1200" b="1" dirty="0"/>
              <a:t>8081</a:t>
            </a:r>
            <a:r>
              <a:rPr lang="en-US" sz="1200" dirty="0"/>
              <a:t> on the local machine was mapped to port </a:t>
            </a:r>
            <a:r>
              <a:rPr lang="en-US" sz="1200" b="1" dirty="0"/>
              <a:t>80</a:t>
            </a:r>
            <a:r>
              <a:rPr lang="en-US" sz="1200" dirty="0"/>
              <a:t> inside the container to access the web application through the browser.</a:t>
            </a:r>
          </a:p>
          <a:p>
            <a:pPr marL="262890" indent="-171450">
              <a:buFont typeface="Arial" panose="020B0604020202020204" pitchFamily="34" charset="0"/>
              <a:buChar char="•"/>
            </a:pPr>
            <a:r>
              <a:rPr lang="en-US" sz="1200" dirty="0"/>
              <a:t>After execution, the DVWA application was successfully hosted locally and used for security testing.</a:t>
            </a:r>
            <a:br>
              <a:rPr lang="en-US" sz="1200" dirty="0"/>
            </a:br>
            <a:br>
              <a:rPr lang="en-US" sz="1200" dirty="0"/>
            </a:br>
            <a:endParaRPr lang="en-US" sz="1200" dirty="0"/>
          </a:p>
        </p:txBody>
      </p:sp>
      <p:pic>
        <p:nvPicPr>
          <p:cNvPr id="6" name="Picture 5">
            <a:extLst>
              <a:ext uri="{FF2B5EF4-FFF2-40B4-BE49-F238E27FC236}">
                <a16:creationId xmlns:a16="http://schemas.microsoft.com/office/drawing/2014/main" id="{38844562-8935-4A5B-7959-EBA2A9341E9C}"/>
              </a:ext>
            </a:extLst>
          </p:cNvPr>
          <p:cNvPicPr>
            <a:picLocks noChangeAspect="1"/>
          </p:cNvPicPr>
          <p:nvPr/>
        </p:nvPicPr>
        <p:blipFill>
          <a:blip r:embed="rId2"/>
          <a:stretch>
            <a:fillRect/>
          </a:stretch>
        </p:blipFill>
        <p:spPr>
          <a:xfrm>
            <a:off x="646109" y="1381479"/>
            <a:ext cx="9530277" cy="35887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E2FA-68C5-43D2-8E1B-AC8949D87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BD9ED-DD75-842A-BDEF-6BC03B0C5342}"/>
              </a:ext>
            </a:extLst>
          </p:cNvPr>
          <p:cNvSpPr>
            <a:spLocks noGrp="1"/>
          </p:cNvSpPr>
          <p:nvPr>
            <p:ph type="title"/>
          </p:nvPr>
        </p:nvSpPr>
        <p:spPr>
          <a:xfrm>
            <a:off x="914692" y="122236"/>
            <a:ext cx="9404723" cy="678258"/>
          </a:xfrm>
        </p:spPr>
        <p:txBody>
          <a:bodyPr/>
          <a:lstStyle/>
          <a:p>
            <a:pPr algn="ctr"/>
            <a:r>
              <a:rPr lang="en-US" b="1" dirty="0"/>
              <a:t>DOCKER AND LOCAL DEPLOYMENT</a:t>
            </a:r>
          </a:p>
        </p:txBody>
      </p:sp>
      <p:sp>
        <p:nvSpPr>
          <p:cNvPr id="4" name="Description">
            <a:extLst>
              <a:ext uri="{FF2B5EF4-FFF2-40B4-BE49-F238E27FC236}">
                <a16:creationId xmlns:a16="http://schemas.microsoft.com/office/drawing/2014/main" id="{97765FE1-460C-702F-9E73-915BC287E2DD}"/>
              </a:ext>
            </a:extLst>
          </p:cNvPr>
          <p:cNvSpPr>
            <a:spLocks noGrp="1"/>
          </p:cNvSpPr>
          <p:nvPr/>
        </p:nvSpPr>
        <p:spPr>
          <a:xfrm>
            <a:off x="914694" y="5821532"/>
            <a:ext cx="9404721" cy="914232"/>
          </a:xfrm>
          <a:prstGeom prst="rect">
            <a:avLst/>
          </a:prstGeom>
          <a:solidFill>
            <a:schemeClr val="accent1">
              <a:alpha val="20000"/>
            </a:schemeClr>
          </a:solidFill>
        </p:spPr>
        <p:txBody>
          <a:bodyPr>
            <a:noAutofit/>
          </a:bodyPr>
          <a:lstStyle/>
          <a:p>
            <a:pPr marL="262890" indent="-171450">
              <a:buFont typeface="Arial" panose="020B0604020202020204" pitchFamily="34" charset="0"/>
              <a:buChar char="•"/>
            </a:pPr>
            <a:r>
              <a:rPr lang="en-US" sz="1200" dirty="0"/>
              <a:t>Docker Desktop was used to manage and run the DVWA application in a local testing environment.</a:t>
            </a:r>
          </a:p>
          <a:p>
            <a:pPr marL="262890" indent="-171450">
              <a:buFont typeface="Arial" panose="020B0604020202020204" pitchFamily="34" charset="0"/>
              <a:buChar char="•"/>
            </a:pPr>
            <a:r>
              <a:rPr lang="en-US" sz="1200" dirty="0"/>
              <a:t>The setup includes the Docker Desktop platform, the required Docker image, and the local container deployment.</a:t>
            </a:r>
          </a:p>
          <a:p>
            <a:pPr marL="262890" indent="-171450">
              <a:buFont typeface="Arial" panose="020B0604020202020204" pitchFamily="34" charset="0"/>
              <a:buChar char="•"/>
            </a:pPr>
            <a:r>
              <a:rPr lang="en-US" sz="1200" dirty="0"/>
              <a:t>The image </a:t>
            </a:r>
            <a:r>
              <a:rPr lang="en-US" sz="1200" b="1" dirty="0"/>
              <a:t>vulnerables/web-</a:t>
            </a:r>
            <a:r>
              <a:rPr lang="en-US" sz="1200" b="1" dirty="0" err="1"/>
              <a:t>dvwa</a:t>
            </a:r>
            <a:r>
              <a:rPr lang="en-US" sz="1200" dirty="0"/>
              <a:t> was pulled and executed to host the vulnerable web application.</a:t>
            </a:r>
          </a:p>
          <a:p>
            <a:pPr marL="262890" indent="-171450">
              <a:buFont typeface="Arial" panose="020B0604020202020204" pitchFamily="34" charset="0"/>
              <a:buChar char="•"/>
            </a:pPr>
            <a:r>
              <a:rPr lang="en-US" sz="1200" dirty="0"/>
              <a:t>After successful deployment, the application was accessed locally through the browser for OWASP ZAP testing.</a:t>
            </a:r>
            <a:br>
              <a:rPr lang="en-US" sz="1200" dirty="0"/>
            </a:br>
            <a:br>
              <a:rPr lang="en-US" sz="1200" dirty="0"/>
            </a:br>
            <a:r>
              <a:rPr lang="en-US" sz="1200" dirty="0"/>
              <a:t>.</a:t>
            </a:r>
            <a:br>
              <a:rPr lang="en-US" sz="1200" dirty="0"/>
            </a:br>
            <a:endParaRPr lang="en-US" sz="1200" dirty="0"/>
          </a:p>
        </p:txBody>
      </p:sp>
      <p:pic>
        <p:nvPicPr>
          <p:cNvPr id="8" name="Picture 7">
            <a:extLst>
              <a:ext uri="{FF2B5EF4-FFF2-40B4-BE49-F238E27FC236}">
                <a16:creationId xmlns:a16="http://schemas.microsoft.com/office/drawing/2014/main" id="{B4C70C2A-D581-6459-29C5-17496A136C99}"/>
              </a:ext>
            </a:extLst>
          </p:cNvPr>
          <p:cNvPicPr>
            <a:picLocks noChangeAspect="1"/>
          </p:cNvPicPr>
          <p:nvPr/>
        </p:nvPicPr>
        <p:blipFill>
          <a:blip r:embed="rId2"/>
          <a:stretch>
            <a:fillRect/>
          </a:stretch>
        </p:blipFill>
        <p:spPr>
          <a:xfrm>
            <a:off x="914693" y="1033290"/>
            <a:ext cx="9404722" cy="4555446"/>
          </a:xfrm>
          <a:prstGeom prst="rect">
            <a:avLst/>
          </a:prstGeom>
        </p:spPr>
      </p:pic>
    </p:spTree>
    <p:extLst>
      <p:ext uri="{BB962C8B-B14F-4D97-AF65-F5344CB8AC3E}">
        <p14:creationId xmlns:p14="http://schemas.microsoft.com/office/powerpoint/2010/main" val="281732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15547" y="1858297"/>
            <a:ext cx="4936777" cy="2631490"/>
          </a:xfrm>
          <a:prstGeom prst="rect">
            <a:avLst/>
          </a:prstGeom>
          <a:noFill/>
        </p:spPr>
        <p:txBody>
          <a:bodyPr wrap="square">
            <a:spAutoFit/>
          </a:bodyPr>
          <a:lstStyle/>
          <a:p>
            <a:pPr marL="342900" indent="-342900">
              <a:spcAft>
                <a:spcPts val="1000"/>
              </a:spcAft>
              <a:buFont typeface="Arial" panose="020B0604020202020204" pitchFamily="34" charset="0"/>
              <a:buChar char="•"/>
              <a:defRPr sz="1800"/>
            </a:pPr>
            <a:r>
              <a:rPr sz="2000" dirty="0"/>
              <a:t>Open DVWA in the browser using the local URL: </a:t>
            </a:r>
            <a:r>
              <a:rPr sz="2000" dirty="0">
                <a:hlinkClick r:id="rId2"/>
              </a:rPr>
              <a:t>http://127.0.0.1:8081</a:t>
            </a:r>
            <a:endParaRPr lang="en-US" sz="2000" dirty="0"/>
          </a:p>
          <a:p>
            <a:pPr marL="342900" indent="-342900">
              <a:spcAft>
                <a:spcPts val="1000"/>
              </a:spcAft>
              <a:buFont typeface="Arial" panose="020B0604020202020204" pitchFamily="34" charset="0"/>
              <a:buChar char="•"/>
              <a:defRPr sz="1800"/>
            </a:pPr>
            <a:r>
              <a:rPr lang="en-US" sz="2000" dirty="0"/>
              <a:t>Login credentials: admin / password.</a:t>
            </a:r>
          </a:p>
          <a:p>
            <a:pPr marL="342900" indent="-342900">
              <a:spcAft>
                <a:spcPts val="1000"/>
              </a:spcAft>
              <a:buFont typeface="Arial" panose="020B0604020202020204" pitchFamily="34" charset="0"/>
              <a:buChar char="•"/>
              <a:defRPr sz="1800"/>
            </a:pPr>
            <a:r>
              <a:rPr lang="en-US" sz="2000" dirty="0"/>
              <a:t>Set DVWA Security Level to LOW before testing.</a:t>
            </a:r>
          </a:p>
          <a:p>
            <a:pPr>
              <a:spcAft>
                <a:spcPts val="1000"/>
              </a:spcAft>
              <a:defRPr sz="1800"/>
            </a:pPr>
            <a:endParaRPr sz="2000" dirty="0"/>
          </a:p>
        </p:txBody>
      </p:sp>
      <p:pic>
        <p:nvPicPr>
          <p:cNvPr id="4" name="Picture 3" descr="WhatsApp Image 2026-04-05 at 10.41.29 AM.jpeg"/>
          <p:cNvPicPr>
            <a:picLocks noChangeAspect="1"/>
          </p:cNvPicPr>
          <p:nvPr/>
        </p:nvPicPr>
        <p:blipFill>
          <a:blip r:embed="rId3"/>
          <a:stretch>
            <a:fillRect/>
          </a:stretch>
        </p:blipFill>
        <p:spPr>
          <a:xfrm>
            <a:off x="335280" y="1150375"/>
            <a:ext cx="5760720" cy="5120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32509"/>
            <a:ext cx="9404723" cy="668159"/>
          </a:xfrm>
        </p:spPr>
        <p:txBody>
          <a:bodyPr/>
          <a:lstStyle/>
          <a:p>
            <a:pPr algn="ctr"/>
            <a:r>
              <a:rPr lang="en-US" b="1" dirty="0"/>
              <a:t>DVWA BROWSER </a:t>
            </a:r>
          </a:p>
        </p:txBody>
      </p:sp>
      <p:sp>
        <p:nvSpPr>
          <p:cNvPr id="4" name="Description"/>
          <p:cNvSpPr>
            <a:spLocks noGrp="1"/>
          </p:cNvSpPr>
          <p:nvPr/>
        </p:nvSpPr>
        <p:spPr>
          <a:xfrm>
            <a:off x="660859" y="5726885"/>
            <a:ext cx="9099754" cy="867465"/>
          </a:xfrm>
          <a:prstGeom prst="rect">
            <a:avLst/>
          </a:prstGeom>
          <a:solidFill>
            <a:schemeClr val="accent1">
              <a:alpha val="20000"/>
            </a:schemeClr>
          </a:solidFill>
        </p:spPr>
        <p:txBody>
          <a:bodyPr>
            <a:noAutofit/>
          </a:bodyPr>
          <a:lstStyle/>
          <a:p>
            <a:pPr marL="262890" indent="-171450">
              <a:buFont typeface="Arial" panose="020B0604020202020204" pitchFamily="34" charset="0"/>
              <a:buChar char="•"/>
            </a:pPr>
            <a:r>
              <a:rPr lang="en-US" sz="1200" dirty="0"/>
              <a:t>DVWA (Damn Vulnerable Web Application) opened in the browser through the local Docker environment.</a:t>
            </a:r>
          </a:p>
          <a:p>
            <a:pPr marL="262890" indent="-171450">
              <a:buFont typeface="Arial" panose="020B0604020202020204" pitchFamily="34" charset="0"/>
              <a:buChar char="•"/>
            </a:pPr>
            <a:r>
              <a:rPr lang="en-US" sz="1200" dirty="0"/>
              <a:t>The home page provides access to multiple vulnerable modules used for web application security testing.</a:t>
            </a:r>
          </a:p>
          <a:p>
            <a:pPr marL="262890" indent="-171450">
              <a:buFont typeface="Arial" panose="020B0604020202020204" pitchFamily="34" charset="0"/>
              <a:buChar char="•"/>
            </a:pPr>
            <a:r>
              <a:rPr lang="en-US" sz="1200" dirty="0"/>
              <a:t>Users can log in with the configured credentials and select the required security level before testing.</a:t>
            </a:r>
          </a:p>
          <a:p>
            <a:pPr marL="262890" indent="-171450">
              <a:buFont typeface="Arial" panose="020B0604020202020204" pitchFamily="34" charset="0"/>
              <a:buChar char="•"/>
            </a:pPr>
            <a:r>
              <a:rPr lang="en-US" sz="1200" dirty="0"/>
              <a:t>This application was used as the target environment for performing vulnerability analysis using OWASP ZAP.</a:t>
            </a:r>
            <a:br>
              <a:rPr lang="en-US" sz="1200" dirty="0"/>
            </a:br>
            <a:br>
              <a:rPr lang="en-US" sz="1200" dirty="0"/>
            </a:br>
            <a:br>
              <a:rPr lang="en-US" sz="1200" dirty="0"/>
            </a:br>
            <a:endParaRPr lang="en-US" sz="1200" dirty="0"/>
          </a:p>
        </p:txBody>
      </p:sp>
      <p:pic>
        <p:nvPicPr>
          <p:cNvPr id="6" name="Picture 5">
            <a:extLst>
              <a:ext uri="{FF2B5EF4-FFF2-40B4-BE49-F238E27FC236}">
                <a16:creationId xmlns:a16="http://schemas.microsoft.com/office/drawing/2014/main" id="{A44D4FB8-21B0-A774-68AD-AB84A70D8CE3}"/>
              </a:ext>
            </a:extLst>
          </p:cNvPr>
          <p:cNvPicPr>
            <a:picLocks noChangeAspect="1"/>
          </p:cNvPicPr>
          <p:nvPr/>
        </p:nvPicPr>
        <p:blipFill>
          <a:blip r:embed="rId2"/>
          <a:stretch>
            <a:fillRect/>
          </a:stretch>
        </p:blipFill>
        <p:spPr>
          <a:xfrm>
            <a:off x="846514" y="979787"/>
            <a:ext cx="9003916" cy="43172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252" y="181664"/>
            <a:ext cx="9404723" cy="835975"/>
          </a:xfrm>
        </p:spPr>
        <p:txBody>
          <a:bodyPr/>
          <a:lstStyle/>
          <a:p>
            <a:pPr algn="ctr"/>
            <a:r>
              <a:rPr lang="en-US" b="1" dirty="0"/>
              <a:t>DVWA SETUP</a:t>
            </a:r>
          </a:p>
        </p:txBody>
      </p:sp>
      <p:sp>
        <p:nvSpPr>
          <p:cNvPr id="4" name="Description"/>
          <p:cNvSpPr>
            <a:spLocks noGrp="1"/>
          </p:cNvSpPr>
          <p:nvPr/>
        </p:nvSpPr>
        <p:spPr>
          <a:xfrm>
            <a:off x="528226" y="5533336"/>
            <a:ext cx="9404723" cy="926458"/>
          </a:xfrm>
          <a:prstGeom prst="rect">
            <a:avLst/>
          </a:prstGeom>
          <a:solidFill>
            <a:schemeClr val="accent1">
              <a:alpha val="20000"/>
            </a:schemeClr>
          </a:solidFill>
        </p:spPr>
        <p:txBody>
          <a:bodyPr>
            <a:noAutofit/>
          </a:bodyPr>
          <a:lstStyle/>
          <a:p>
            <a:pPr marL="262890" indent="-171450">
              <a:buFont typeface="Arial" panose="020B0604020202020204" pitchFamily="34" charset="0"/>
              <a:buChar char="•"/>
            </a:pPr>
            <a:r>
              <a:rPr lang="en-US" sz="1200" dirty="0"/>
              <a:t>The setup includes the </a:t>
            </a:r>
            <a:r>
              <a:rPr lang="en-US" sz="1200" b="1" dirty="0"/>
              <a:t>DVWA web application</a:t>
            </a:r>
            <a:r>
              <a:rPr lang="en-US" sz="1200" dirty="0"/>
              <a:t>, </a:t>
            </a:r>
            <a:r>
              <a:rPr lang="en-US" sz="1200" b="1" dirty="0"/>
              <a:t>Apache web server</a:t>
            </a:r>
            <a:r>
              <a:rPr lang="en-US" sz="1200" dirty="0"/>
              <a:t>, and </a:t>
            </a:r>
            <a:r>
              <a:rPr lang="en-US" sz="1200" b="1" dirty="0"/>
              <a:t>MySQL database</a:t>
            </a:r>
            <a:r>
              <a:rPr lang="en-US" sz="1200" dirty="0"/>
              <a:t> running inside the container.</a:t>
            </a:r>
          </a:p>
          <a:p>
            <a:pPr marL="262890" indent="-171450">
              <a:buFont typeface="Arial" panose="020B0604020202020204" pitchFamily="34" charset="0"/>
              <a:buChar char="•"/>
            </a:pPr>
            <a:r>
              <a:rPr lang="en-US" sz="1200" dirty="0"/>
              <a:t>The application was accessed through the local browser using the Docker-hosted URL.</a:t>
            </a:r>
          </a:p>
          <a:p>
            <a:pPr marL="262890" indent="-171450">
              <a:buFont typeface="Arial" panose="020B0604020202020204" pitchFamily="34" charset="0"/>
              <a:buChar char="•"/>
            </a:pPr>
            <a:r>
              <a:rPr lang="en-US" sz="1200" dirty="0"/>
              <a:t>After deployment, the default credentials were used to log in and the security level was configured for vulnerability testing.</a:t>
            </a:r>
            <a:br>
              <a:rPr lang="en-US" sz="1200" dirty="0"/>
            </a:br>
            <a:br>
              <a:rPr lang="en-US" sz="1200" dirty="0"/>
            </a:br>
            <a:endParaRPr lang="en-US" sz="1200" dirty="0"/>
          </a:p>
        </p:txBody>
      </p:sp>
      <p:pic>
        <p:nvPicPr>
          <p:cNvPr id="6" name="Picture 5">
            <a:extLst>
              <a:ext uri="{FF2B5EF4-FFF2-40B4-BE49-F238E27FC236}">
                <a16:creationId xmlns:a16="http://schemas.microsoft.com/office/drawing/2014/main" id="{72B3DCB7-39B3-8161-EBBB-9BA4F2415C1C}"/>
              </a:ext>
            </a:extLst>
          </p:cNvPr>
          <p:cNvPicPr>
            <a:picLocks noChangeAspect="1"/>
          </p:cNvPicPr>
          <p:nvPr/>
        </p:nvPicPr>
        <p:blipFill>
          <a:blip r:embed="rId2"/>
          <a:stretch>
            <a:fillRect/>
          </a:stretch>
        </p:blipFill>
        <p:spPr>
          <a:xfrm>
            <a:off x="528226" y="1152197"/>
            <a:ext cx="9404723" cy="39571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97734" y="2356794"/>
            <a:ext cx="5204214" cy="3195747"/>
          </a:xfrm>
          <a:prstGeom prst="rect">
            <a:avLst/>
          </a:prstGeom>
          <a:noFill/>
        </p:spPr>
        <p:txBody>
          <a:bodyPr wrap="square">
            <a:spAutoFit/>
          </a:bodyPr>
          <a:lstStyle/>
          <a:p>
            <a:pPr marL="342900" indent="-342900">
              <a:spcAft>
                <a:spcPts val="1000"/>
              </a:spcAft>
              <a:buFont typeface="Arial" panose="020B0604020202020204" pitchFamily="34" charset="0"/>
              <a:buChar char="•"/>
              <a:defRPr sz="1800"/>
            </a:pPr>
            <a:r>
              <a:rPr sz="2000" dirty="0"/>
              <a:t>Launch OWASP ZAP and choose Man</a:t>
            </a:r>
            <a:r>
              <a:rPr lang="en-US" sz="2000" dirty="0"/>
              <a:t>ual Explore.</a:t>
            </a:r>
          </a:p>
          <a:p>
            <a:pPr marL="342900" indent="-342900">
              <a:spcAft>
                <a:spcPts val="1000"/>
              </a:spcAft>
              <a:buFont typeface="Arial" panose="020B0604020202020204" pitchFamily="34" charset="0"/>
              <a:buChar char="•"/>
              <a:defRPr sz="1800"/>
            </a:pPr>
            <a:r>
              <a:rPr lang="en-US" sz="2000" dirty="0"/>
              <a:t>Enter target URL: </a:t>
            </a:r>
            <a:r>
              <a:rPr lang="en-US" sz="2000" dirty="0">
                <a:hlinkClick r:id="rId2"/>
              </a:rPr>
              <a:t>http://127.0.0.1:8081</a:t>
            </a:r>
            <a:endParaRPr lang="en-US" sz="2000" dirty="0"/>
          </a:p>
          <a:p>
            <a:pPr marL="342900" indent="-342900">
              <a:spcAft>
                <a:spcPts val="1000"/>
              </a:spcAft>
              <a:buFont typeface="Arial" panose="020B0604020202020204" pitchFamily="34" charset="0"/>
              <a:buChar char="•"/>
              <a:defRPr sz="1800"/>
            </a:pPr>
            <a:r>
              <a:rPr lang="en-US" sz="2000" dirty="0"/>
              <a:t>Enable the option: Launch Browser</a:t>
            </a:r>
          </a:p>
          <a:p>
            <a:pPr marL="342900" indent="-342900">
              <a:spcAft>
                <a:spcPts val="1000"/>
              </a:spcAft>
              <a:buFont typeface="Arial" panose="020B0604020202020204" pitchFamily="34" charset="0"/>
              <a:buChar char="•"/>
              <a:defRPr sz="1800"/>
            </a:pPr>
            <a:r>
              <a:rPr lang="en-US" sz="2000" dirty="0"/>
              <a:t>This starts a browser session proxied through ZAP.</a:t>
            </a:r>
          </a:p>
          <a:p>
            <a:pPr>
              <a:spcAft>
                <a:spcPts val="1000"/>
              </a:spcAft>
              <a:defRPr sz="1800"/>
            </a:pPr>
            <a:endParaRPr lang="en-US" sz="2000" dirty="0"/>
          </a:p>
          <a:p>
            <a:pPr marL="342900" indent="-342900">
              <a:spcAft>
                <a:spcPts val="1000"/>
              </a:spcAft>
              <a:buFont typeface="Arial" panose="020B0604020202020204" pitchFamily="34" charset="0"/>
              <a:buChar char="•"/>
              <a:defRPr sz="1800"/>
            </a:pPr>
            <a:endParaRPr lang="en-US" sz="2000" dirty="0"/>
          </a:p>
        </p:txBody>
      </p:sp>
      <p:pic>
        <p:nvPicPr>
          <p:cNvPr id="4" name="Picture 3" descr="WhatsApp Image 2026-04-05 at 10.41.27 AM.jpeg"/>
          <p:cNvPicPr>
            <a:picLocks noChangeAspect="1"/>
          </p:cNvPicPr>
          <p:nvPr/>
        </p:nvPicPr>
        <p:blipFill>
          <a:blip r:embed="rId3"/>
          <a:stretch>
            <a:fillRect/>
          </a:stretch>
        </p:blipFill>
        <p:spPr>
          <a:xfrm>
            <a:off x="498495" y="1253613"/>
            <a:ext cx="5760720" cy="5120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615" y="205871"/>
            <a:ext cx="9404723" cy="867465"/>
          </a:xfrm>
        </p:spPr>
        <p:txBody>
          <a:bodyPr/>
          <a:lstStyle/>
          <a:p>
            <a:pPr algn="ctr"/>
            <a:r>
              <a:rPr lang="en-US" b="1" dirty="0"/>
              <a:t>MANUAL EXPLORE IN ZAP</a:t>
            </a:r>
          </a:p>
        </p:txBody>
      </p:sp>
      <p:sp>
        <p:nvSpPr>
          <p:cNvPr id="4" name="Description"/>
          <p:cNvSpPr>
            <a:spLocks noGrp="1"/>
          </p:cNvSpPr>
          <p:nvPr/>
        </p:nvSpPr>
        <p:spPr>
          <a:xfrm>
            <a:off x="790113" y="5705017"/>
            <a:ext cx="9614514" cy="867465"/>
          </a:xfrm>
          <a:prstGeom prst="rect">
            <a:avLst/>
          </a:prstGeom>
          <a:solidFill>
            <a:schemeClr val="accent1">
              <a:alpha val="20000"/>
            </a:schemeClr>
          </a:solidFill>
        </p:spPr>
        <p:txBody>
          <a:bodyPr>
            <a:noAutofit/>
          </a:bodyPr>
          <a:lstStyle/>
          <a:p>
            <a:pPr marL="377190" indent="-285750">
              <a:buFont typeface="Arial" panose="020B0604020202020204" pitchFamily="34" charset="0"/>
              <a:buChar char="•"/>
            </a:pPr>
            <a:r>
              <a:rPr lang="en-US" sz="1200" dirty="0"/>
              <a:t>The target application URL was entered in ZAP to begin manual exploration.</a:t>
            </a:r>
          </a:p>
          <a:p>
            <a:pPr marL="377190" indent="-285750">
              <a:buFont typeface="Arial" panose="020B0604020202020204" pitchFamily="34" charset="0"/>
              <a:buChar char="•"/>
            </a:pPr>
            <a:r>
              <a:rPr lang="en-US" sz="1200" dirty="0"/>
              <a:t>This allowed the application to open through the ZAP browser for traffic monitoring.</a:t>
            </a:r>
          </a:p>
          <a:p>
            <a:pPr marL="377190" indent="-285750">
              <a:buFont typeface="Arial" panose="020B0604020202020204" pitchFamily="34" charset="0"/>
              <a:buChar char="•"/>
            </a:pPr>
            <a:r>
              <a:rPr lang="en-US" sz="1200" dirty="0"/>
              <a:t>It helped capture requests, responses, and application paths.</a:t>
            </a:r>
          </a:p>
          <a:p>
            <a:pPr marL="377190" indent="-285750">
              <a:buFont typeface="Arial" panose="020B0604020202020204" pitchFamily="34" charset="0"/>
              <a:buChar char="•"/>
            </a:pPr>
            <a:r>
              <a:rPr lang="en-US" sz="1200" dirty="0"/>
              <a:t>This step was used before performing authenticated vulnerability scanning.</a:t>
            </a:r>
            <a:br>
              <a:rPr lang="en-US" sz="1200" dirty="0"/>
            </a:br>
            <a:br>
              <a:rPr lang="en-US" sz="1200" dirty="0"/>
            </a:br>
            <a:endParaRPr lang="en-US" sz="1200" dirty="0"/>
          </a:p>
        </p:txBody>
      </p:sp>
      <p:pic>
        <p:nvPicPr>
          <p:cNvPr id="6" name="Picture 5">
            <a:extLst>
              <a:ext uri="{FF2B5EF4-FFF2-40B4-BE49-F238E27FC236}">
                <a16:creationId xmlns:a16="http://schemas.microsoft.com/office/drawing/2014/main" id="{3666901E-5E2C-F93F-7413-9CA8A3B786FB}"/>
              </a:ext>
            </a:extLst>
          </p:cNvPr>
          <p:cNvPicPr>
            <a:picLocks noChangeAspect="1"/>
          </p:cNvPicPr>
          <p:nvPr/>
        </p:nvPicPr>
        <p:blipFill>
          <a:blip r:embed="rId2"/>
          <a:stretch>
            <a:fillRect/>
          </a:stretch>
        </p:blipFill>
        <p:spPr>
          <a:xfrm>
            <a:off x="790113" y="1152983"/>
            <a:ext cx="9614515" cy="43051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97156" y="2127569"/>
            <a:ext cx="5212080" cy="3195747"/>
          </a:xfrm>
          <a:prstGeom prst="rect">
            <a:avLst/>
          </a:prstGeom>
          <a:noFill/>
        </p:spPr>
        <p:txBody>
          <a:bodyPr wrap="square">
            <a:spAutoFit/>
          </a:bodyPr>
          <a:lstStyle/>
          <a:p>
            <a:pPr marL="285750" indent="-285750">
              <a:spcAft>
                <a:spcPts val="1000"/>
              </a:spcAft>
              <a:buFont typeface="Arial" panose="020B0604020202020204" pitchFamily="34" charset="0"/>
              <a:buChar char="•"/>
              <a:defRPr sz="1800"/>
            </a:pPr>
            <a:r>
              <a:rPr sz="2000" dirty="0"/>
              <a:t>Login must be performed inside the ZAP launched browser.</a:t>
            </a:r>
          </a:p>
          <a:p>
            <a:pPr marL="285750" indent="-285750">
              <a:spcAft>
                <a:spcPts val="1000"/>
              </a:spcAft>
              <a:buFont typeface="Arial" panose="020B0604020202020204" pitchFamily="34" charset="0"/>
              <a:buChar char="•"/>
              <a:defRPr sz="1800"/>
            </a:pPr>
            <a:r>
              <a:rPr sz="2000" dirty="0"/>
              <a:t>Do not use normal Chrome or external browser.</a:t>
            </a:r>
          </a:p>
          <a:p>
            <a:pPr marL="285750" indent="-285750">
              <a:spcAft>
                <a:spcPts val="1000"/>
              </a:spcAft>
              <a:buFont typeface="Arial" panose="020B0604020202020204" pitchFamily="34" charset="0"/>
              <a:buChar char="•"/>
              <a:defRPr sz="1800"/>
            </a:pPr>
            <a:r>
              <a:rPr sz="2000" dirty="0"/>
              <a:t>This allows ZAP to capture:</a:t>
            </a:r>
          </a:p>
          <a:p>
            <a:pPr marL="285750" indent="-285750">
              <a:spcAft>
                <a:spcPts val="1000"/>
              </a:spcAft>
              <a:buFont typeface="Arial" panose="020B0604020202020204" pitchFamily="34" charset="0"/>
              <a:buChar char="•"/>
              <a:defRPr sz="1800"/>
            </a:pPr>
            <a:r>
              <a:rPr sz="2000" dirty="0"/>
              <a:t>Session details</a:t>
            </a:r>
            <a:r>
              <a:rPr lang="en-US" sz="2000" dirty="0"/>
              <a:t>.</a:t>
            </a:r>
            <a:endParaRPr sz="2000" dirty="0"/>
          </a:p>
          <a:p>
            <a:pPr marL="285750" indent="-285750">
              <a:spcAft>
                <a:spcPts val="1000"/>
              </a:spcAft>
              <a:buFont typeface="Arial" panose="020B0604020202020204" pitchFamily="34" charset="0"/>
              <a:buChar char="•"/>
              <a:defRPr sz="1800"/>
            </a:pPr>
            <a:r>
              <a:rPr sz="2000" dirty="0"/>
              <a:t>Cookies</a:t>
            </a:r>
            <a:r>
              <a:rPr lang="en-US" sz="2000" dirty="0"/>
              <a:t>.</a:t>
            </a:r>
            <a:endParaRPr sz="2000" dirty="0"/>
          </a:p>
          <a:p>
            <a:pPr marL="285750" indent="-285750">
              <a:spcAft>
                <a:spcPts val="1000"/>
              </a:spcAft>
              <a:buFont typeface="Arial" panose="020B0604020202020204" pitchFamily="34" charset="0"/>
              <a:buChar char="•"/>
              <a:defRPr sz="1800"/>
            </a:pPr>
            <a:r>
              <a:rPr sz="2000" dirty="0"/>
              <a:t> Authentication flow</a:t>
            </a:r>
            <a:r>
              <a:rPr lang="en-US" sz="2000" dirty="0"/>
              <a:t>.</a:t>
            </a:r>
            <a:endParaRPr sz="2000" dirty="0"/>
          </a:p>
        </p:txBody>
      </p:sp>
      <p:pic>
        <p:nvPicPr>
          <p:cNvPr id="4" name="Picture 3" descr="WhatsApp Image 2026-04-05 at 10.41.29 AM.jpeg"/>
          <p:cNvPicPr>
            <a:picLocks noChangeAspect="1"/>
          </p:cNvPicPr>
          <p:nvPr/>
        </p:nvPicPr>
        <p:blipFill>
          <a:blip r:embed="rId2"/>
          <a:stretch>
            <a:fillRect/>
          </a:stretch>
        </p:blipFill>
        <p:spPr>
          <a:xfrm>
            <a:off x="482764" y="1165123"/>
            <a:ext cx="5760720" cy="5120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86341" y="2113255"/>
            <a:ext cx="5212080" cy="2631490"/>
          </a:xfrm>
          <a:prstGeom prst="rect">
            <a:avLst/>
          </a:prstGeom>
          <a:noFill/>
        </p:spPr>
        <p:txBody>
          <a:bodyPr wrap="square">
            <a:spAutoFit/>
          </a:bodyPr>
          <a:lstStyle/>
          <a:p>
            <a:pPr marL="285750" indent="-285750">
              <a:spcAft>
                <a:spcPts val="1000"/>
              </a:spcAft>
              <a:buFont typeface="Arial" panose="020B0604020202020204" pitchFamily="34" charset="0"/>
              <a:buChar char="•"/>
              <a:defRPr sz="1800"/>
            </a:pPr>
            <a:r>
              <a:rPr sz="2000" dirty="0"/>
              <a:t>In the Sites panel, right-click the DVWA target site.</a:t>
            </a:r>
          </a:p>
          <a:p>
            <a:pPr marL="285750" indent="-285750">
              <a:spcAft>
                <a:spcPts val="1000"/>
              </a:spcAft>
              <a:buFont typeface="Arial" panose="020B0604020202020204" pitchFamily="34" charset="0"/>
              <a:buChar char="•"/>
              <a:defRPr sz="1800"/>
            </a:pPr>
            <a:r>
              <a:rPr sz="2000" dirty="0"/>
              <a:t>Select: Include in Context → New Context</a:t>
            </a:r>
            <a:r>
              <a:rPr lang="en-US" sz="2000" dirty="0"/>
              <a:t>.</a:t>
            </a:r>
            <a:endParaRPr sz="2000" dirty="0"/>
          </a:p>
          <a:p>
            <a:pPr marL="285750" indent="-285750">
              <a:spcAft>
                <a:spcPts val="1000"/>
              </a:spcAft>
              <a:buFont typeface="Arial" panose="020B0604020202020204" pitchFamily="34" charset="0"/>
              <a:buChar char="•"/>
              <a:defRPr sz="1800"/>
            </a:pPr>
            <a:r>
              <a:rPr sz="2000" dirty="0"/>
              <a:t>Create context name: DVWAContext</a:t>
            </a:r>
            <a:r>
              <a:rPr lang="en-US" sz="2000" dirty="0"/>
              <a:t>.</a:t>
            </a:r>
            <a:endParaRPr sz="2000" dirty="0"/>
          </a:p>
          <a:p>
            <a:pPr marL="285750" indent="-285750">
              <a:spcAft>
                <a:spcPts val="1000"/>
              </a:spcAft>
              <a:buFont typeface="Arial" panose="020B0604020202020204" pitchFamily="34" charset="0"/>
              <a:buChar char="•"/>
              <a:defRPr sz="1800"/>
            </a:pPr>
            <a:r>
              <a:rPr sz="2000" dirty="0"/>
              <a:t>This helps ZAP identify authenticated application scope.</a:t>
            </a:r>
          </a:p>
        </p:txBody>
      </p:sp>
      <p:pic>
        <p:nvPicPr>
          <p:cNvPr id="4" name="Picture 3" descr="WhatsApp Image 2026-04-05 at 10.41.27 AM.jpeg"/>
          <p:cNvPicPr>
            <a:picLocks noChangeAspect="1"/>
          </p:cNvPicPr>
          <p:nvPr/>
        </p:nvPicPr>
        <p:blipFill>
          <a:blip r:embed="rId2"/>
          <a:stretch>
            <a:fillRect/>
          </a:stretch>
        </p:blipFill>
        <p:spPr>
          <a:xfrm>
            <a:off x="365760" y="1002890"/>
            <a:ext cx="5760720" cy="51206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99412" y="2628984"/>
            <a:ext cx="5332034" cy="2015936"/>
          </a:xfrm>
          <a:prstGeom prst="rect">
            <a:avLst/>
          </a:prstGeom>
          <a:noFill/>
        </p:spPr>
        <p:txBody>
          <a:bodyPr wrap="square">
            <a:spAutoFit/>
          </a:bodyPr>
          <a:lstStyle/>
          <a:p>
            <a:pPr marL="285750" indent="-285750">
              <a:spcAft>
                <a:spcPts val="1000"/>
              </a:spcAft>
              <a:buFont typeface="Arial" panose="020B0604020202020204" pitchFamily="34" charset="0"/>
              <a:buChar char="•"/>
              <a:defRPr sz="1800"/>
            </a:pPr>
            <a:r>
              <a:rPr sz="2000" dirty="0"/>
              <a:t>Navigate to Context → Authentication.</a:t>
            </a:r>
          </a:p>
          <a:p>
            <a:pPr marL="285750" indent="-285750">
              <a:spcAft>
                <a:spcPts val="1000"/>
              </a:spcAft>
              <a:buFont typeface="Arial" panose="020B0604020202020204" pitchFamily="34" charset="0"/>
              <a:buChar char="•"/>
              <a:defRPr sz="1800"/>
            </a:pPr>
            <a:r>
              <a:rPr sz="2000" dirty="0"/>
              <a:t>Choose: Form-based Authentication</a:t>
            </a:r>
            <a:r>
              <a:rPr lang="en-US" sz="2000" dirty="0"/>
              <a:t>.</a:t>
            </a:r>
            <a:endParaRPr sz="2000" dirty="0"/>
          </a:p>
          <a:p>
            <a:pPr marL="285750" indent="-285750">
              <a:spcAft>
                <a:spcPts val="1000"/>
              </a:spcAft>
              <a:buFont typeface="Arial" panose="020B0604020202020204" pitchFamily="34" charset="0"/>
              <a:buChar char="•"/>
              <a:defRPr sz="1800"/>
            </a:pPr>
            <a:r>
              <a:rPr sz="2000" dirty="0"/>
              <a:t>Set Logi</a:t>
            </a:r>
            <a:r>
              <a:rPr lang="en-US" sz="2000" dirty="0"/>
              <a:t>n </a:t>
            </a:r>
            <a:r>
              <a:rPr sz="2000" dirty="0"/>
              <a:t>URL:http://127.0.0.1:8081/login.php</a:t>
            </a:r>
            <a:r>
              <a:rPr lang="en-US" sz="2000" dirty="0"/>
              <a:t>.</a:t>
            </a:r>
            <a:endParaRPr sz="2000" dirty="0"/>
          </a:p>
          <a:p>
            <a:pPr marL="285750" indent="-285750">
              <a:spcAft>
                <a:spcPts val="1000"/>
              </a:spcAft>
              <a:buFont typeface="Arial" panose="020B0604020202020204" pitchFamily="34" charset="0"/>
              <a:buChar char="•"/>
              <a:defRPr sz="1800"/>
            </a:pPr>
            <a:r>
              <a:rPr sz="2000" dirty="0"/>
              <a:t>This tells ZAP how DVWA login works.</a:t>
            </a:r>
          </a:p>
        </p:txBody>
      </p:sp>
      <p:pic>
        <p:nvPicPr>
          <p:cNvPr id="4" name="Picture 3" descr="WhatsApp Image 2026-04-05 at 10.41.27 AM.jpeg"/>
          <p:cNvPicPr>
            <a:picLocks noChangeAspect="1"/>
          </p:cNvPicPr>
          <p:nvPr/>
        </p:nvPicPr>
        <p:blipFill>
          <a:blip r:embed="rId2"/>
          <a:stretch>
            <a:fillRect/>
          </a:stretch>
        </p:blipFill>
        <p:spPr>
          <a:xfrm>
            <a:off x="365760" y="1076632"/>
            <a:ext cx="5760720" cy="51206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33535" y="2445599"/>
            <a:ext cx="5212080" cy="2323713"/>
          </a:xfrm>
          <a:prstGeom prst="rect">
            <a:avLst/>
          </a:prstGeom>
          <a:noFill/>
        </p:spPr>
        <p:txBody>
          <a:bodyPr wrap="square">
            <a:spAutoFit/>
          </a:bodyPr>
          <a:lstStyle/>
          <a:p>
            <a:pPr marL="285750" indent="-285750">
              <a:spcAft>
                <a:spcPts val="1000"/>
              </a:spcAft>
              <a:buFont typeface="Arial" panose="020B0604020202020204" pitchFamily="34" charset="0"/>
              <a:buChar char="•"/>
              <a:defRPr sz="1800"/>
            </a:pPr>
            <a:r>
              <a:rPr sz="2000" dirty="0"/>
              <a:t>Go to the History tab in ZAP.</a:t>
            </a:r>
          </a:p>
          <a:p>
            <a:pPr marL="285750" indent="-285750">
              <a:spcAft>
                <a:spcPts val="1000"/>
              </a:spcAft>
              <a:buFont typeface="Arial" panose="020B0604020202020204" pitchFamily="34" charset="0"/>
              <a:buChar char="•"/>
              <a:defRPr sz="1800"/>
            </a:pPr>
            <a:r>
              <a:rPr sz="2000" dirty="0"/>
              <a:t>Find the DVWA login request after authentication.</a:t>
            </a:r>
          </a:p>
          <a:p>
            <a:pPr marL="285750" indent="-285750">
              <a:spcAft>
                <a:spcPts val="1000"/>
              </a:spcAft>
              <a:buFont typeface="Arial" panose="020B0604020202020204" pitchFamily="34" charset="0"/>
              <a:buChar char="•"/>
              <a:defRPr sz="1800"/>
            </a:pPr>
            <a:r>
              <a:rPr sz="2000" dirty="0"/>
              <a:t>Right-click the login request.</a:t>
            </a:r>
          </a:p>
          <a:p>
            <a:pPr marL="285750" indent="-285750">
              <a:spcAft>
                <a:spcPts val="1000"/>
              </a:spcAft>
              <a:buFont typeface="Arial" panose="020B0604020202020204" pitchFamily="34" charset="0"/>
              <a:buChar char="•"/>
              <a:defRPr sz="1800"/>
            </a:pPr>
            <a:r>
              <a:rPr sz="2000" dirty="0"/>
              <a:t>Select: Flag as Context → Authentication Request</a:t>
            </a:r>
          </a:p>
        </p:txBody>
      </p:sp>
      <p:pic>
        <p:nvPicPr>
          <p:cNvPr id="4" name="Picture 3" descr="WhatsApp Image 2026-04-05 at 10.41.27 AM.jpeg"/>
          <p:cNvPicPr>
            <a:picLocks noChangeAspect="1"/>
          </p:cNvPicPr>
          <p:nvPr/>
        </p:nvPicPr>
        <p:blipFill>
          <a:blip r:embed="rId2"/>
          <a:stretch>
            <a:fillRect/>
          </a:stretch>
        </p:blipFill>
        <p:spPr>
          <a:xfrm>
            <a:off x="308733" y="1047136"/>
            <a:ext cx="5760720" cy="5120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38451" y="2410976"/>
            <a:ext cx="5212080" cy="2451953"/>
          </a:xfrm>
          <a:prstGeom prst="rect">
            <a:avLst/>
          </a:prstGeom>
          <a:noFill/>
        </p:spPr>
        <p:txBody>
          <a:bodyPr wrap="square">
            <a:spAutoFit/>
          </a:bodyPr>
          <a:lstStyle/>
          <a:p>
            <a:pPr marL="285750" indent="-285750">
              <a:spcAft>
                <a:spcPts val="1000"/>
              </a:spcAft>
              <a:buFont typeface="Arial" panose="020B0604020202020204" pitchFamily="34" charset="0"/>
              <a:buChar char="•"/>
              <a:defRPr sz="1800"/>
            </a:pPr>
            <a:r>
              <a:rPr sz="2000" dirty="0"/>
              <a:t>Go to Context → Users.</a:t>
            </a:r>
          </a:p>
          <a:p>
            <a:pPr marL="285750" indent="-285750">
              <a:spcAft>
                <a:spcPts val="1000"/>
              </a:spcAft>
              <a:buFont typeface="Arial" panose="020B0604020202020204" pitchFamily="34" charset="0"/>
              <a:buChar char="•"/>
              <a:defRPr sz="1800"/>
            </a:pPr>
            <a:r>
              <a:rPr sz="2000" dirty="0"/>
              <a:t>Create a user with the DVWA credentials.</a:t>
            </a:r>
          </a:p>
          <a:p>
            <a:pPr marL="285750" indent="-285750">
              <a:spcAft>
                <a:spcPts val="1000"/>
              </a:spcAft>
              <a:buFont typeface="Arial" panose="020B0604020202020204" pitchFamily="34" charset="0"/>
              <a:buChar char="•"/>
              <a:defRPr sz="1800"/>
            </a:pPr>
            <a:r>
              <a:rPr sz="2000" dirty="0"/>
              <a:t>Username: admin</a:t>
            </a:r>
          </a:p>
          <a:p>
            <a:pPr marL="285750" indent="-285750">
              <a:spcAft>
                <a:spcPts val="1000"/>
              </a:spcAft>
              <a:buFont typeface="Arial" panose="020B0604020202020204" pitchFamily="34" charset="0"/>
              <a:buChar char="•"/>
              <a:defRPr sz="1800"/>
            </a:pPr>
            <a:r>
              <a:rPr sz="2000" dirty="0"/>
              <a:t>Password: password</a:t>
            </a:r>
          </a:p>
          <a:p>
            <a:pPr marL="285750" indent="-285750">
              <a:spcAft>
                <a:spcPts val="1000"/>
              </a:spcAft>
              <a:buFont typeface="Arial" panose="020B0604020202020204" pitchFamily="34" charset="0"/>
              <a:buChar char="•"/>
              <a:defRPr sz="1800"/>
            </a:pPr>
            <a:r>
              <a:rPr sz="2000" dirty="0"/>
              <a:t>This allows authenticated scanning.</a:t>
            </a:r>
          </a:p>
        </p:txBody>
      </p:sp>
      <p:pic>
        <p:nvPicPr>
          <p:cNvPr id="4" name="Picture 3" descr="WhatsApp Image 2026-04-05 at 10.41.27 AM.jpeg"/>
          <p:cNvPicPr>
            <a:picLocks noChangeAspect="1"/>
          </p:cNvPicPr>
          <p:nvPr/>
        </p:nvPicPr>
        <p:blipFill>
          <a:blip r:embed="rId2"/>
          <a:stretch>
            <a:fillRect/>
          </a:stretch>
        </p:blipFill>
        <p:spPr>
          <a:xfrm>
            <a:off x="335280" y="1076633"/>
            <a:ext cx="5760720" cy="51206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44640" y="2485152"/>
            <a:ext cx="5212080" cy="1887696"/>
          </a:xfrm>
          <a:prstGeom prst="rect">
            <a:avLst/>
          </a:prstGeom>
          <a:noFill/>
        </p:spPr>
        <p:txBody>
          <a:bodyPr wrap="square">
            <a:spAutoFit/>
          </a:bodyPr>
          <a:lstStyle/>
          <a:p>
            <a:pPr marL="285750" indent="-285750">
              <a:spcAft>
                <a:spcPts val="1000"/>
              </a:spcAft>
              <a:buFont typeface="Arial" panose="020B0604020202020204" pitchFamily="34" charset="0"/>
              <a:buChar char="•"/>
              <a:defRPr sz="1800"/>
            </a:pPr>
            <a:r>
              <a:rPr sz="2000" dirty="0"/>
              <a:t>Click the User / Forced User Mode icon on the top bar.</a:t>
            </a:r>
          </a:p>
          <a:p>
            <a:pPr marL="285750" indent="-285750">
              <a:spcAft>
                <a:spcPts val="1000"/>
              </a:spcAft>
              <a:buFont typeface="Arial" panose="020B0604020202020204" pitchFamily="34" charset="0"/>
              <a:buChar char="•"/>
              <a:defRPr sz="1800"/>
            </a:pPr>
            <a:r>
              <a:rPr sz="2000" dirty="0"/>
              <a:t>Enable Forced User Mode.</a:t>
            </a:r>
          </a:p>
          <a:p>
            <a:pPr marL="285750" indent="-285750">
              <a:spcAft>
                <a:spcPts val="1000"/>
              </a:spcAft>
              <a:buFont typeface="Arial" panose="020B0604020202020204" pitchFamily="34" charset="0"/>
              <a:buChar char="•"/>
              <a:defRPr sz="1800"/>
            </a:pPr>
            <a:r>
              <a:rPr sz="2000" dirty="0"/>
              <a:t>This ensures all requests are sent as the authenticated user.</a:t>
            </a:r>
          </a:p>
        </p:txBody>
      </p:sp>
      <p:pic>
        <p:nvPicPr>
          <p:cNvPr id="4" name="Picture 3" descr="WhatsApp Image 2026-04-05 at 10.41.27 AM.jpeg"/>
          <p:cNvPicPr>
            <a:picLocks noChangeAspect="1"/>
          </p:cNvPicPr>
          <p:nvPr/>
        </p:nvPicPr>
        <p:blipFill>
          <a:blip r:embed="rId2"/>
          <a:stretch>
            <a:fillRect/>
          </a:stretch>
        </p:blipFill>
        <p:spPr>
          <a:xfrm>
            <a:off x="335280" y="1075157"/>
            <a:ext cx="5760720" cy="51206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91141" y="2639040"/>
            <a:ext cx="5212080" cy="1579920"/>
          </a:xfrm>
          <a:prstGeom prst="rect">
            <a:avLst/>
          </a:prstGeom>
          <a:noFill/>
        </p:spPr>
        <p:txBody>
          <a:bodyPr wrap="square">
            <a:spAutoFit/>
          </a:bodyPr>
          <a:lstStyle/>
          <a:p>
            <a:pPr marL="342900" indent="-342900">
              <a:spcAft>
                <a:spcPts val="1000"/>
              </a:spcAft>
              <a:buFont typeface="Arial" panose="020B0604020202020204" pitchFamily="34" charset="0"/>
              <a:buChar char="•"/>
              <a:defRPr sz="1800"/>
            </a:pPr>
            <a:r>
              <a:rPr sz="2000" dirty="0"/>
              <a:t>Right-click the target site inside ZAP.</a:t>
            </a:r>
          </a:p>
          <a:p>
            <a:pPr marL="342900" indent="-342900">
              <a:spcAft>
                <a:spcPts val="1000"/>
              </a:spcAft>
              <a:buFont typeface="Arial" panose="020B0604020202020204" pitchFamily="34" charset="0"/>
              <a:buChar char="•"/>
              <a:defRPr sz="1800"/>
            </a:pPr>
            <a:r>
              <a:rPr sz="2000" dirty="0"/>
              <a:t>Choose: Attack → Active Scan</a:t>
            </a:r>
          </a:p>
          <a:p>
            <a:pPr marL="342900" indent="-342900">
              <a:spcAft>
                <a:spcPts val="1000"/>
              </a:spcAft>
              <a:buFont typeface="Arial" panose="020B0604020202020204" pitchFamily="34" charset="0"/>
              <a:buChar char="•"/>
              <a:defRPr sz="1800"/>
            </a:pPr>
            <a:r>
              <a:rPr sz="2000" dirty="0"/>
              <a:t>ZAP now scans authenticated DVWA pages and vulnerabilities.</a:t>
            </a:r>
          </a:p>
        </p:txBody>
      </p:sp>
      <p:pic>
        <p:nvPicPr>
          <p:cNvPr id="4" name="Picture 3" descr="WhatsApp Image 2026-04-05 at 10.41.27 AM.jpeg"/>
          <p:cNvPicPr>
            <a:picLocks noChangeAspect="1"/>
          </p:cNvPicPr>
          <p:nvPr/>
        </p:nvPicPr>
        <p:blipFill>
          <a:blip r:embed="rId2"/>
          <a:stretch>
            <a:fillRect/>
          </a:stretch>
        </p:blipFill>
        <p:spPr>
          <a:xfrm>
            <a:off x="365760" y="1097280"/>
            <a:ext cx="5760720" cy="51206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D845-B800-FC42-C895-6AE727983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0AADE-5450-92A8-EC27-24574A67454C}"/>
              </a:ext>
            </a:extLst>
          </p:cNvPr>
          <p:cNvSpPr>
            <a:spLocks noGrp="1"/>
          </p:cNvSpPr>
          <p:nvPr>
            <p:ph type="title" idx="4294967295"/>
          </p:nvPr>
        </p:nvSpPr>
        <p:spPr>
          <a:xfrm>
            <a:off x="1002890" y="363538"/>
            <a:ext cx="8401460" cy="1038225"/>
          </a:xfrm>
        </p:spPr>
        <p:txBody>
          <a:bodyPr/>
          <a:lstStyle/>
          <a:p>
            <a:pPr algn="ctr"/>
            <a:r>
              <a:rPr lang="en-IN" b="1" dirty="0"/>
              <a:t> ZAP</a:t>
            </a:r>
            <a:r>
              <a:rPr lang="en-IN" dirty="0"/>
              <a:t> </a:t>
            </a:r>
            <a:r>
              <a:rPr lang="en-IN" b="1" dirty="0"/>
              <a:t>SCAN REPORT</a:t>
            </a:r>
          </a:p>
        </p:txBody>
      </p:sp>
      <p:sp>
        <p:nvSpPr>
          <p:cNvPr id="3" name="Content Placeholder 2">
            <a:extLst>
              <a:ext uri="{FF2B5EF4-FFF2-40B4-BE49-F238E27FC236}">
                <a16:creationId xmlns:a16="http://schemas.microsoft.com/office/drawing/2014/main" id="{54758351-B5B1-A4D4-87CA-8228399E40CD}"/>
              </a:ext>
            </a:extLst>
          </p:cNvPr>
          <p:cNvSpPr>
            <a:spLocks noGrp="1"/>
          </p:cNvSpPr>
          <p:nvPr>
            <p:ph idx="4294967295"/>
          </p:nvPr>
        </p:nvSpPr>
        <p:spPr>
          <a:xfrm>
            <a:off x="1401097" y="2248463"/>
            <a:ext cx="8998411" cy="3355923"/>
          </a:xfrm>
        </p:spPr>
        <p:txBody>
          <a:bodyPr>
            <a:noAutofit/>
          </a:bodyPr>
          <a:lstStyle/>
          <a:p>
            <a:pPr marL="0" indent="0" algn="ctr">
              <a:buNone/>
            </a:pPr>
            <a:r>
              <a:rPr lang="en-US" sz="2400" dirty="0">
                <a:hlinkClick r:id="rId2" action="ppaction://hlinkfile"/>
              </a:rPr>
              <a:t>ZAP by Checkmarx Scanning Report.html</a:t>
            </a:r>
            <a:endParaRPr lang="en-US" sz="2400" dirty="0"/>
          </a:p>
          <a:p>
            <a:pPr marL="0" indent="0" algn="ctr">
              <a:buNone/>
            </a:pPr>
            <a:endParaRPr lang="en-US" sz="2400" dirty="0"/>
          </a:p>
          <a:p>
            <a:pPr marL="0" indent="0" algn="ctr">
              <a:buNone/>
            </a:pPr>
            <a:r>
              <a:rPr lang="en-US" sz="2400" dirty="0"/>
              <a:t>Above attached a zap scan report link, please look the report by ctrl+click to follow the link.</a:t>
            </a:r>
          </a:p>
          <a:p>
            <a:pPr marL="0" indent="0" algn="ctr">
              <a:buNone/>
            </a:pPr>
            <a:endParaRPr lang="en-US" sz="2400" dirty="0"/>
          </a:p>
          <a:p>
            <a:pPr marL="0" indent="0" algn="ctr">
              <a:buNone/>
            </a:pPr>
            <a:endParaRPr lang="en-IN" sz="2400" dirty="0"/>
          </a:p>
        </p:txBody>
      </p:sp>
    </p:spTree>
    <p:extLst>
      <p:ext uri="{BB962C8B-B14F-4D97-AF65-F5344CB8AC3E}">
        <p14:creationId xmlns:p14="http://schemas.microsoft.com/office/powerpoint/2010/main" val="372117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37179" y="2024330"/>
            <a:ext cx="5212080" cy="3195747"/>
          </a:xfrm>
          <a:prstGeom prst="rect">
            <a:avLst/>
          </a:prstGeom>
          <a:noFill/>
        </p:spPr>
        <p:txBody>
          <a:bodyPr wrap="square">
            <a:spAutoFit/>
          </a:bodyPr>
          <a:lstStyle/>
          <a:p>
            <a:pPr>
              <a:spcAft>
                <a:spcPts val="1000"/>
              </a:spcAft>
              <a:defRPr sz="1800"/>
            </a:pPr>
            <a:r>
              <a:rPr sz="2000" dirty="0"/>
              <a:t>ZAP successfully scans authenticated DVWA pages.</a:t>
            </a:r>
          </a:p>
          <a:p>
            <a:pPr>
              <a:spcAft>
                <a:spcPts val="1000"/>
              </a:spcAft>
              <a:defRPr sz="1800"/>
            </a:pPr>
            <a:r>
              <a:rPr sz="2000" dirty="0"/>
              <a:t>Detected areas include:</a:t>
            </a:r>
          </a:p>
          <a:p>
            <a:pPr>
              <a:spcAft>
                <a:spcPts val="1000"/>
              </a:spcAft>
              <a:defRPr sz="1800"/>
            </a:pPr>
            <a:r>
              <a:rPr sz="2000" dirty="0"/>
              <a:t>• SQL Injection pages</a:t>
            </a:r>
          </a:p>
          <a:p>
            <a:pPr>
              <a:spcAft>
                <a:spcPts val="1000"/>
              </a:spcAft>
              <a:defRPr sz="1800"/>
            </a:pPr>
            <a:r>
              <a:rPr sz="2000" dirty="0"/>
              <a:t>• XSS pages</a:t>
            </a:r>
          </a:p>
          <a:p>
            <a:pPr>
              <a:spcAft>
                <a:spcPts val="1000"/>
              </a:spcAft>
              <a:defRPr sz="1800"/>
            </a:pPr>
            <a:r>
              <a:rPr sz="2000" dirty="0"/>
              <a:t>• Authenticated sections</a:t>
            </a:r>
          </a:p>
          <a:p>
            <a:pPr>
              <a:spcAft>
                <a:spcPts val="1000"/>
              </a:spcAft>
              <a:defRPr sz="1800"/>
            </a:pPr>
            <a:r>
              <a:rPr sz="2000" dirty="0"/>
              <a:t>Result includes HIGH severity vulnerability findings.</a:t>
            </a:r>
          </a:p>
        </p:txBody>
      </p:sp>
      <p:pic>
        <p:nvPicPr>
          <p:cNvPr id="4" name="Picture 3" descr="WhatsApp Image 2026-04-05 at 10.41.28 AM.jpeg"/>
          <p:cNvPicPr>
            <a:picLocks noChangeAspect="1"/>
          </p:cNvPicPr>
          <p:nvPr/>
        </p:nvPicPr>
        <p:blipFill>
          <a:blip r:embed="rId2"/>
          <a:stretch>
            <a:fillRect/>
          </a:stretch>
        </p:blipFill>
        <p:spPr>
          <a:xfrm>
            <a:off x="439502" y="1061884"/>
            <a:ext cx="5760720" cy="5120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250764"/>
            <a:ext cx="9404723" cy="823219"/>
          </a:xfrm>
        </p:spPr>
        <p:txBody>
          <a:bodyPr/>
          <a:lstStyle/>
          <a:p>
            <a:pPr algn="ctr"/>
            <a:r>
              <a:rPr lang="en-SG" b="1" dirty="0"/>
              <a:t>DVWA SQL INJECTION</a:t>
            </a:r>
            <a:endParaRPr lang="en-US" b="1" dirty="0"/>
          </a:p>
        </p:txBody>
      </p:sp>
      <p:sp>
        <p:nvSpPr>
          <p:cNvPr id="4" name="Description"/>
          <p:cNvSpPr>
            <a:spLocks noGrp="1"/>
          </p:cNvSpPr>
          <p:nvPr/>
        </p:nvSpPr>
        <p:spPr>
          <a:xfrm>
            <a:off x="646111" y="5623104"/>
            <a:ext cx="9132070" cy="984132"/>
          </a:xfrm>
          <a:prstGeom prst="rect">
            <a:avLst/>
          </a:prstGeom>
          <a:solidFill>
            <a:schemeClr val="accent1">
              <a:alpha val="20000"/>
            </a:schemeClr>
          </a:solidFill>
        </p:spPr>
        <p:txBody>
          <a:bodyPr>
            <a:noAutofit/>
          </a:bodyPr>
          <a:lstStyle/>
          <a:p>
            <a:pPr marL="285750" indent="-285750">
              <a:buFont typeface="Arial" panose="020B0604020202020204" pitchFamily="34" charset="0"/>
              <a:buChar char="•"/>
            </a:pPr>
            <a:r>
              <a:rPr lang="en-US" sz="1200" dirty="0"/>
              <a:t>SQL Injection uses </a:t>
            </a:r>
            <a:r>
              <a:rPr lang="en-US" sz="1200" b="1" dirty="0"/>
              <a:t>malicious input</a:t>
            </a:r>
            <a:r>
              <a:rPr lang="en-US" sz="1200" dirty="0"/>
              <a:t> to alter backend SQL queries.</a:t>
            </a:r>
          </a:p>
          <a:p>
            <a:pPr marL="285750" indent="-285750">
              <a:buFont typeface="Arial" panose="020B0604020202020204" pitchFamily="34" charset="0"/>
              <a:buChar char="•"/>
            </a:pPr>
            <a:r>
              <a:rPr lang="en-US" sz="1200" dirty="0"/>
              <a:t>Improper input validation can lead to </a:t>
            </a:r>
            <a:r>
              <a:rPr lang="en-US" sz="1200" b="1" dirty="0"/>
              <a:t>unauthorized data access</a:t>
            </a:r>
            <a:r>
              <a:rPr lang="en-US" sz="1200" dirty="0"/>
              <a:t>.</a:t>
            </a:r>
          </a:p>
          <a:p>
            <a:pPr marL="285750" indent="-285750">
              <a:buFont typeface="Arial" panose="020B0604020202020204" pitchFamily="34" charset="0"/>
              <a:buChar char="•"/>
            </a:pPr>
            <a:r>
              <a:rPr lang="en-US" sz="1200" dirty="0"/>
              <a:t>DVWA is used to </a:t>
            </a:r>
            <a:r>
              <a:rPr lang="en-US" sz="1200" b="1" dirty="0"/>
              <a:t>demonstrate this vulnerability safely</a:t>
            </a:r>
            <a:r>
              <a:rPr lang="en-US" sz="1200" dirty="0"/>
              <a:t>.</a:t>
            </a:r>
          </a:p>
          <a:p>
            <a:pPr marL="285750" indent="-285750">
              <a:buFont typeface="Arial" panose="020B0604020202020204" pitchFamily="34" charset="0"/>
              <a:buChar char="•"/>
            </a:pPr>
            <a:r>
              <a:rPr lang="en-US" sz="1200" dirty="0"/>
              <a:t>This helps understand the importance of </a:t>
            </a:r>
            <a:r>
              <a:rPr lang="en-US" sz="1200" b="1" dirty="0"/>
              <a:t>secure database query handling</a:t>
            </a:r>
            <a:r>
              <a:rPr lang="en-US" sz="1200" dirty="0"/>
              <a:t>.</a:t>
            </a:r>
            <a:br>
              <a:rPr lang="en-US" sz="1200" dirty="0"/>
            </a:br>
            <a:br>
              <a:rPr lang="en-US" sz="1200" dirty="0"/>
            </a:br>
            <a:endParaRPr lang="en-US" sz="1200" dirty="0"/>
          </a:p>
        </p:txBody>
      </p:sp>
      <p:pic>
        <p:nvPicPr>
          <p:cNvPr id="6" name="Picture 5">
            <a:extLst>
              <a:ext uri="{FF2B5EF4-FFF2-40B4-BE49-F238E27FC236}">
                <a16:creationId xmlns:a16="http://schemas.microsoft.com/office/drawing/2014/main" id="{E20A8EFA-C54A-B93D-5901-90862C8B4160}"/>
              </a:ext>
            </a:extLst>
          </p:cNvPr>
          <p:cNvPicPr>
            <a:picLocks noChangeAspect="1"/>
          </p:cNvPicPr>
          <p:nvPr/>
        </p:nvPicPr>
        <p:blipFill>
          <a:blip r:embed="rId2"/>
          <a:stretch>
            <a:fillRect/>
          </a:stretch>
        </p:blipFill>
        <p:spPr>
          <a:xfrm>
            <a:off x="646110" y="1296373"/>
            <a:ext cx="9132071" cy="410434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697CA-7281-32DA-48EB-0810249C2F9B}"/>
              </a:ext>
            </a:extLst>
          </p:cNvPr>
          <p:cNvSpPr>
            <a:spLocks noGrp="1"/>
          </p:cNvSpPr>
          <p:nvPr>
            <p:ph type="title"/>
          </p:nvPr>
        </p:nvSpPr>
        <p:spPr/>
        <p:txBody>
          <a:bodyPr/>
          <a:lstStyle/>
          <a:p>
            <a:pPr algn="ctr"/>
            <a:r>
              <a:rPr lang="en-US" b="1" dirty="0"/>
              <a:t>MISSING</a:t>
            </a:r>
            <a:r>
              <a:rPr lang="en-US" dirty="0"/>
              <a:t> </a:t>
            </a:r>
            <a:r>
              <a:rPr lang="en-US" b="1" dirty="0"/>
              <a:t>CSP VULNERABILITY</a:t>
            </a:r>
          </a:p>
        </p:txBody>
      </p:sp>
      <p:sp>
        <p:nvSpPr>
          <p:cNvPr id="3" name="Content Placeholder 2">
            <a:extLst>
              <a:ext uri="{FF2B5EF4-FFF2-40B4-BE49-F238E27FC236}">
                <a16:creationId xmlns:a16="http://schemas.microsoft.com/office/drawing/2014/main" id="{0E1AA831-1ACC-5662-33DB-492272886107}"/>
              </a:ext>
            </a:extLst>
          </p:cNvPr>
          <p:cNvSpPr>
            <a:spLocks noGrp="1"/>
          </p:cNvSpPr>
          <p:nvPr>
            <p:ph idx="1"/>
          </p:nvPr>
        </p:nvSpPr>
        <p:spPr/>
        <p:txBody>
          <a:bodyPr>
            <a:normAutofit/>
          </a:bodyPr>
          <a:lstStyle/>
          <a:p>
            <a:pPr>
              <a:buFont typeface="Arial" panose="020B0604020202020204" pitchFamily="34" charset="0"/>
              <a:buChar char="•"/>
            </a:pPr>
            <a:r>
              <a:rPr lang="en-US" sz="2400" dirty="0"/>
              <a:t>A web application does not include the Content-Security-Policy header, browser has no restrictions on loading/executing content.</a:t>
            </a:r>
          </a:p>
          <a:p>
            <a:pPr>
              <a:buFont typeface="Arial" panose="020B0604020202020204" pitchFamily="34" charset="0"/>
              <a:buChar char="•"/>
            </a:pPr>
            <a:r>
              <a:rPr lang="en-US" sz="2400" dirty="0"/>
              <a:t>Without CSP attackers can inject malicious scripts, steal cookies/session data, redirect users to fake pages.</a:t>
            </a:r>
          </a:p>
          <a:p>
            <a:pPr>
              <a:buFont typeface="Arial" panose="020B0604020202020204" pitchFamily="34" charset="0"/>
              <a:buChar char="•"/>
            </a:pPr>
            <a:r>
              <a:rPr lang="en-US" sz="2400" dirty="0"/>
              <a:t>It impacts on session hijacking, sensitive data theft, phishing attacks, website defacement, malware injection.</a:t>
            </a:r>
          </a:p>
          <a:p>
            <a:pPr marL="0" indent="0">
              <a:buNone/>
            </a:pPr>
            <a:endParaRPr lang="en-US" sz="2400" dirty="0"/>
          </a:p>
          <a:p>
            <a:pPr marL="0" indent="0">
              <a:buNone/>
            </a:pPr>
            <a:endParaRPr lang="en-US" sz="2400" dirty="0"/>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676291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774A0-1CF8-49DE-4D65-DC0F565F9901}"/>
              </a:ext>
            </a:extLst>
          </p:cNvPr>
          <p:cNvSpPr>
            <a:spLocks noGrp="1"/>
          </p:cNvSpPr>
          <p:nvPr>
            <p:ph type="title"/>
          </p:nvPr>
        </p:nvSpPr>
        <p:spPr>
          <a:xfrm>
            <a:off x="646111" y="275737"/>
            <a:ext cx="9404723" cy="1331837"/>
          </a:xfrm>
        </p:spPr>
        <p:txBody>
          <a:bodyPr/>
          <a:lstStyle/>
          <a:p>
            <a:pPr algn="ctr"/>
            <a:r>
              <a:rPr lang="en-US" b="1" dirty="0"/>
              <a:t>MISSING X-FRAME-OPTIONS VULNERABILITY</a:t>
            </a:r>
          </a:p>
        </p:txBody>
      </p:sp>
      <p:sp>
        <p:nvSpPr>
          <p:cNvPr id="3" name="Content Placeholder 2">
            <a:extLst>
              <a:ext uri="{FF2B5EF4-FFF2-40B4-BE49-F238E27FC236}">
                <a16:creationId xmlns:a16="http://schemas.microsoft.com/office/drawing/2014/main" id="{35A59E86-F0AF-4D60-57BA-53E7CC72F78F}"/>
              </a:ext>
            </a:extLst>
          </p:cNvPr>
          <p:cNvSpPr>
            <a:spLocks noGrp="1"/>
          </p:cNvSpPr>
          <p:nvPr>
            <p:ph idx="1"/>
          </p:nvPr>
        </p:nvSpPr>
        <p:spPr>
          <a:xfrm>
            <a:off x="1103312" y="1710813"/>
            <a:ext cx="9404723" cy="4871449"/>
          </a:xfrm>
        </p:spPr>
        <p:txBody>
          <a:bodyPr>
            <a:noAutofit/>
          </a:bodyPr>
          <a:lstStyle/>
          <a:p>
            <a:pPr>
              <a:buFont typeface="Arial" panose="020B0604020202020204" pitchFamily="34" charset="0"/>
              <a:buChar char="•"/>
            </a:pPr>
            <a:r>
              <a:rPr lang="en-US" sz="2400" dirty="0"/>
              <a:t>X-Frame-options is a security HTTP response header.</a:t>
            </a:r>
          </a:p>
          <a:p>
            <a:pPr>
              <a:buFont typeface="Arial" panose="020B0604020202020204" pitchFamily="34" charset="0"/>
              <a:buChar char="•"/>
            </a:pPr>
            <a:r>
              <a:rPr lang="en-US" sz="2400" dirty="0"/>
              <a:t>It Controls whether a page can be loaded inside an &lt;iframe&gt; and  prevent clickjacking attacks.</a:t>
            </a:r>
          </a:p>
          <a:p>
            <a:pPr>
              <a:buFont typeface="Arial" panose="020B0604020202020204" pitchFamily="34" charset="0"/>
              <a:buChar char="•"/>
            </a:pPr>
            <a:r>
              <a:rPr lang="en-US" sz="2400" dirty="0"/>
              <a:t>Missing x-frame–options header or misconfigured it leads to the website embedded in attacker’s page.</a:t>
            </a:r>
          </a:p>
          <a:p>
            <a:pPr>
              <a:buFont typeface="Arial" panose="020B0604020202020204" pitchFamily="34" charset="0"/>
              <a:buChar char="•"/>
            </a:pPr>
            <a:r>
              <a:rPr lang="en-US" sz="2400" dirty="0"/>
              <a:t>Attacker creates a malicious webpage, loads victim site inside an invisible iframe and tricks user into clicking by buttons, links , transactions.</a:t>
            </a:r>
          </a:p>
          <a:p>
            <a:pPr>
              <a:buFont typeface="Arial" panose="020B0604020202020204" pitchFamily="34" charset="0"/>
              <a:buChar char="•"/>
            </a:pPr>
            <a:r>
              <a:rPr lang="en-US" sz="2400" dirty="0"/>
              <a:t>It leads to gain unauthorized actions (e.g., money transfer), account takeover, changing user settings, data theft and like/share fraud on social media.</a:t>
            </a:r>
          </a:p>
        </p:txBody>
      </p:sp>
    </p:spTree>
    <p:extLst>
      <p:ext uri="{BB962C8B-B14F-4D97-AF65-F5344CB8AC3E}">
        <p14:creationId xmlns:p14="http://schemas.microsoft.com/office/powerpoint/2010/main" val="1499280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932CB-EB56-770A-B475-F0327795241B}"/>
              </a:ext>
            </a:extLst>
          </p:cNvPr>
          <p:cNvSpPr>
            <a:spLocks noGrp="1"/>
          </p:cNvSpPr>
          <p:nvPr>
            <p:ph type="title"/>
          </p:nvPr>
        </p:nvSpPr>
        <p:spPr/>
        <p:txBody>
          <a:bodyPr/>
          <a:lstStyle/>
          <a:p>
            <a:pPr algn="ctr"/>
            <a:r>
              <a:rPr lang="en-US" b="1" dirty="0"/>
              <a:t>COOKIE WITHOUT HTTPONLY FLAG VULNERABILITY</a:t>
            </a:r>
          </a:p>
        </p:txBody>
      </p:sp>
      <p:sp>
        <p:nvSpPr>
          <p:cNvPr id="3" name="Content Placeholder 2">
            <a:extLst>
              <a:ext uri="{FF2B5EF4-FFF2-40B4-BE49-F238E27FC236}">
                <a16:creationId xmlns:a16="http://schemas.microsoft.com/office/drawing/2014/main" id="{2BBF1E41-D0B2-BDF4-EEC9-9378C15042EF}"/>
              </a:ext>
            </a:extLst>
          </p:cNvPr>
          <p:cNvSpPr>
            <a:spLocks noGrp="1"/>
          </p:cNvSpPr>
          <p:nvPr>
            <p:ph idx="1"/>
          </p:nvPr>
        </p:nvSpPr>
        <p:spPr>
          <a:xfrm>
            <a:off x="808345" y="2052918"/>
            <a:ext cx="9404723" cy="3993921"/>
          </a:xfrm>
        </p:spPr>
        <p:txBody>
          <a:bodyPr>
            <a:normAutofit/>
          </a:bodyPr>
          <a:lstStyle/>
          <a:p>
            <a:pPr lvl="1">
              <a:buFont typeface="Arial" panose="020B0604020202020204" pitchFamily="34" charset="0"/>
              <a:buChar char="•"/>
            </a:pPr>
            <a:r>
              <a:rPr lang="en-US" sz="2400" dirty="0"/>
              <a:t>The vulnerability occurs when cookies are set without httpOnly flag.</a:t>
            </a:r>
          </a:p>
          <a:p>
            <a:pPr lvl="1">
              <a:buFont typeface="Arial" panose="020B0604020202020204" pitchFamily="34" charset="0"/>
              <a:buChar char="•"/>
            </a:pPr>
            <a:r>
              <a:rPr lang="en-US" sz="2400" dirty="0"/>
              <a:t>JavaScript can access cookies using document.cookie.</a:t>
            </a:r>
          </a:p>
          <a:p>
            <a:pPr lvl="1">
              <a:buFont typeface="Arial" panose="020B0604020202020204" pitchFamily="34" charset="0"/>
              <a:buChar char="•"/>
            </a:pPr>
            <a:r>
              <a:rPr lang="en-US" sz="2400" dirty="0"/>
              <a:t>By using malicious javaScript, it send victim’s cookie to attacker.</a:t>
            </a:r>
          </a:p>
          <a:p>
            <a:pPr lvl="1">
              <a:buFont typeface="Arial" panose="020B0604020202020204" pitchFamily="34" charset="0"/>
              <a:buChar char="•"/>
            </a:pPr>
            <a:r>
              <a:rPr lang="en-US" sz="2400" dirty="0"/>
              <a:t>It leads to session hijacking, account takeover, unauthorized access, data theft.</a:t>
            </a:r>
          </a:p>
        </p:txBody>
      </p:sp>
    </p:spTree>
    <p:extLst>
      <p:ext uri="{BB962C8B-B14F-4D97-AF65-F5344CB8AC3E}">
        <p14:creationId xmlns:p14="http://schemas.microsoft.com/office/powerpoint/2010/main" val="2207784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FBA70-65AF-6313-CB49-582A6A6C72F4}"/>
              </a:ext>
            </a:extLst>
          </p:cNvPr>
          <p:cNvSpPr>
            <a:spLocks noGrp="1"/>
          </p:cNvSpPr>
          <p:nvPr>
            <p:ph type="title"/>
          </p:nvPr>
        </p:nvSpPr>
        <p:spPr>
          <a:xfrm>
            <a:off x="1317185" y="341671"/>
            <a:ext cx="8825659" cy="1029928"/>
          </a:xfrm>
        </p:spPr>
        <p:txBody>
          <a:bodyPr/>
          <a:lstStyle/>
          <a:p>
            <a:pPr algn="ctr"/>
            <a:r>
              <a:rPr lang="en-US" sz="4200" b="1" dirty="0"/>
              <a:t>CVSS SCORE LEVELS</a:t>
            </a:r>
          </a:p>
        </p:txBody>
      </p:sp>
      <p:graphicFrame>
        <p:nvGraphicFramePr>
          <p:cNvPr id="7" name="Table 6">
            <a:extLst>
              <a:ext uri="{FF2B5EF4-FFF2-40B4-BE49-F238E27FC236}">
                <a16:creationId xmlns:a16="http://schemas.microsoft.com/office/drawing/2014/main" id="{5A89E27A-8348-2E7F-6F1F-72EE05007CAC}"/>
              </a:ext>
            </a:extLst>
          </p:cNvPr>
          <p:cNvGraphicFramePr>
            <a:graphicFrameLocks noGrp="1"/>
          </p:cNvGraphicFramePr>
          <p:nvPr>
            <p:extLst>
              <p:ext uri="{D42A27DB-BD31-4B8C-83A1-F6EECF244321}">
                <p14:modId xmlns:p14="http://schemas.microsoft.com/office/powerpoint/2010/main" val="835778257"/>
              </p:ext>
            </p:extLst>
          </p:nvPr>
        </p:nvGraphicFramePr>
        <p:xfrm>
          <a:off x="1317185" y="1995071"/>
          <a:ext cx="9468465" cy="3195047"/>
        </p:xfrm>
        <a:graphic>
          <a:graphicData uri="http://schemas.openxmlformats.org/drawingml/2006/table">
            <a:tbl>
              <a:tblPr firstRow="1" bandRow="1">
                <a:tableStyleId>{5C22544A-7EE6-4342-B048-85BDC9FD1C3A}</a:tableStyleId>
              </a:tblPr>
              <a:tblGrid>
                <a:gridCol w="3156155">
                  <a:extLst>
                    <a:ext uri="{9D8B030D-6E8A-4147-A177-3AD203B41FA5}">
                      <a16:colId xmlns:a16="http://schemas.microsoft.com/office/drawing/2014/main" val="1642959305"/>
                    </a:ext>
                  </a:extLst>
                </a:gridCol>
                <a:gridCol w="3156155">
                  <a:extLst>
                    <a:ext uri="{9D8B030D-6E8A-4147-A177-3AD203B41FA5}">
                      <a16:colId xmlns:a16="http://schemas.microsoft.com/office/drawing/2014/main" val="1239144426"/>
                    </a:ext>
                  </a:extLst>
                </a:gridCol>
                <a:gridCol w="3156155">
                  <a:extLst>
                    <a:ext uri="{9D8B030D-6E8A-4147-A177-3AD203B41FA5}">
                      <a16:colId xmlns:a16="http://schemas.microsoft.com/office/drawing/2014/main" val="2463840534"/>
                    </a:ext>
                  </a:extLst>
                </a:gridCol>
              </a:tblGrid>
              <a:tr h="520944">
                <a:tc>
                  <a:txBody>
                    <a:bodyPr/>
                    <a:lstStyle/>
                    <a:p>
                      <a:pPr algn="ctr"/>
                      <a:r>
                        <a:rPr lang="en-US" sz="1600" b="1" dirty="0">
                          <a:latin typeface="+mj-lt"/>
                        </a:rPr>
                        <a:t>Score Range</a:t>
                      </a:r>
                    </a:p>
                  </a:txBody>
                  <a:tcPr/>
                </a:tc>
                <a:tc>
                  <a:txBody>
                    <a:bodyPr/>
                    <a:lstStyle/>
                    <a:p>
                      <a:pPr algn="ctr"/>
                      <a:r>
                        <a:rPr lang="en-US" sz="1600" b="1" dirty="0">
                          <a:latin typeface="+mj-lt"/>
                        </a:rPr>
                        <a:t>Severity Level</a:t>
                      </a:r>
                    </a:p>
                  </a:txBody>
                  <a:tcPr/>
                </a:tc>
                <a:tc>
                  <a:txBody>
                    <a:bodyPr/>
                    <a:lstStyle/>
                    <a:p>
                      <a:pPr algn="ctr"/>
                      <a:r>
                        <a:rPr lang="en-US" sz="1600" b="1" dirty="0">
                          <a:latin typeface="+mj-lt"/>
                        </a:rPr>
                        <a:t>Meaning</a:t>
                      </a:r>
                    </a:p>
                  </a:txBody>
                  <a:tcPr/>
                </a:tc>
                <a:extLst>
                  <a:ext uri="{0D108BD9-81ED-4DB2-BD59-A6C34878D82A}">
                    <a16:rowId xmlns:a16="http://schemas.microsoft.com/office/drawing/2014/main" val="2259030030"/>
                  </a:ext>
                </a:extLst>
              </a:tr>
              <a:tr h="520944">
                <a:tc>
                  <a:txBody>
                    <a:bodyPr/>
                    <a:lstStyle/>
                    <a:p>
                      <a:pPr algn="ctr"/>
                      <a:r>
                        <a:rPr lang="en-US" sz="1600" b="1" dirty="0">
                          <a:latin typeface="+mj-lt"/>
                        </a:rPr>
                        <a:t>0</a:t>
                      </a:r>
                    </a:p>
                  </a:txBody>
                  <a:tcPr/>
                </a:tc>
                <a:tc>
                  <a:txBody>
                    <a:bodyPr/>
                    <a:lstStyle/>
                    <a:p>
                      <a:pPr algn="ctr"/>
                      <a:r>
                        <a:rPr lang="en-US" sz="1600" b="1" dirty="0">
                          <a:latin typeface="+mj-lt"/>
                        </a:rPr>
                        <a:t>None</a:t>
                      </a:r>
                    </a:p>
                  </a:txBody>
                  <a:tcPr/>
                </a:tc>
                <a:tc>
                  <a:txBody>
                    <a:bodyPr/>
                    <a:lstStyle/>
                    <a:p>
                      <a:pPr algn="ctr"/>
                      <a:r>
                        <a:rPr lang="en-US" sz="1600" b="1" dirty="0">
                          <a:latin typeface="+mj-lt"/>
                        </a:rPr>
                        <a:t>No Risk</a:t>
                      </a:r>
                    </a:p>
                  </a:txBody>
                  <a:tcPr/>
                </a:tc>
                <a:extLst>
                  <a:ext uri="{0D108BD9-81ED-4DB2-BD59-A6C34878D82A}">
                    <a16:rowId xmlns:a16="http://schemas.microsoft.com/office/drawing/2014/main" val="2179648528"/>
                  </a:ext>
                </a:extLst>
              </a:tr>
              <a:tr h="520944">
                <a:tc>
                  <a:txBody>
                    <a:bodyPr/>
                    <a:lstStyle/>
                    <a:p>
                      <a:pPr algn="ctr"/>
                      <a:r>
                        <a:rPr lang="en-US" sz="1600" b="1" dirty="0">
                          <a:latin typeface="+mj-lt"/>
                        </a:rPr>
                        <a:t>0.1-3.9</a:t>
                      </a:r>
                    </a:p>
                  </a:txBody>
                  <a:tcPr/>
                </a:tc>
                <a:tc>
                  <a:txBody>
                    <a:bodyPr/>
                    <a:lstStyle/>
                    <a:p>
                      <a:pPr algn="ctr"/>
                      <a:r>
                        <a:rPr lang="en-US" sz="1600" b="1" dirty="0">
                          <a:latin typeface="+mj-lt"/>
                        </a:rPr>
                        <a:t>Low</a:t>
                      </a:r>
                    </a:p>
                  </a:txBody>
                  <a:tcPr/>
                </a:tc>
                <a:tc>
                  <a:txBody>
                    <a:bodyPr/>
                    <a:lstStyle/>
                    <a:p>
                      <a:pPr algn="ctr"/>
                      <a:r>
                        <a:rPr lang="en-US" sz="1600" b="1" dirty="0">
                          <a:latin typeface="+mj-lt"/>
                        </a:rPr>
                        <a:t>Minor Impact</a:t>
                      </a:r>
                    </a:p>
                  </a:txBody>
                  <a:tcPr/>
                </a:tc>
                <a:extLst>
                  <a:ext uri="{0D108BD9-81ED-4DB2-BD59-A6C34878D82A}">
                    <a16:rowId xmlns:a16="http://schemas.microsoft.com/office/drawing/2014/main" val="2313292517"/>
                  </a:ext>
                </a:extLst>
              </a:tr>
              <a:tr h="520944">
                <a:tc>
                  <a:txBody>
                    <a:bodyPr/>
                    <a:lstStyle/>
                    <a:p>
                      <a:pPr algn="ctr"/>
                      <a:r>
                        <a:rPr lang="en-US" sz="1600" b="1" dirty="0">
                          <a:latin typeface="+mj-lt"/>
                        </a:rPr>
                        <a:t>4.0-6.9</a:t>
                      </a:r>
                    </a:p>
                  </a:txBody>
                  <a:tcPr/>
                </a:tc>
                <a:tc>
                  <a:txBody>
                    <a:bodyPr/>
                    <a:lstStyle/>
                    <a:p>
                      <a:pPr algn="ctr"/>
                      <a:r>
                        <a:rPr lang="en-US" sz="1600" b="1" dirty="0">
                          <a:latin typeface="+mj-lt"/>
                        </a:rPr>
                        <a:t>Medium</a:t>
                      </a:r>
                    </a:p>
                  </a:txBody>
                  <a:tcPr/>
                </a:tc>
                <a:tc>
                  <a:txBody>
                    <a:bodyPr/>
                    <a:lstStyle/>
                    <a:p>
                      <a:pPr algn="ctr"/>
                      <a:r>
                        <a:rPr lang="en-US" sz="1600" b="1" dirty="0">
                          <a:latin typeface="+mj-lt"/>
                        </a:rPr>
                        <a:t>Moderate Risk</a:t>
                      </a:r>
                    </a:p>
                  </a:txBody>
                  <a:tcPr/>
                </a:tc>
                <a:extLst>
                  <a:ext uri="{0D108BD9-81ED-4DB2-BD59-A6C34878D82A}">
                    <a16:rowId xmlns:a16="http://schemas.microsoft.com/office/drawing/2014/main" val="1716848253"/>
                  </a:ext>
                </a:extLst>
              </a:tr>
              <a:tr h="493152">
                <a:tc>
                  <a:txBody>
                    <a:bodyPr/>
                    <a:lstStyle/>
                    <a:p>
                      <a:pPr algn="ctr"/>
                      <a:r>
                        <a:rPr lang="en-US" sz="1600" b="1" dirty="0">
                          <a:latin typeface="+mj-lt"/>
                        </a:rPr>
                        <a:t>7.0-8.9</a:t>
                      </a:r>
                    </a:p>
                  </a:txBody>
                  <a:tcPr/>
                </a:tc>
                <a:tc>
                  <a:txBody>
                    <a:bodyPr/>
                    <a:lstStyle/>
                    <a:p>
                      <a:pPr algn="ctr"/>
                      <a:r>
                        <a:rPr lang="en-US" sz="1600" b="1" dirty="0">
                          <a:latin typeface="+mj-lt"/>
                        </a:rPr>
                        <a:t>High</a:t>
                      </a:r>
                    </a:p>
                  </a:txBody>
                  <a:tcPr/>
                </a:tc>
                <a:tc>
                  <a:txBody>
                    <a:bodyPr/>
                    <a:lstStyle/>
                    <a:p>
                      <a:pPr algn="ctr"/>
                      <a:r>
                        <a:rPr lang="en-US" sz="1600" b="1" dirty="0">
                          <a:latin typeface="+mj-lt"/>
                        </a:rPr>
                        <a:t>Serious Vulnerability</a:t>
                      </a:r>
                    </a:p>
                  </a:txBody>
                  <a:tcPr/>
                </a:tc>
                <a:extLst>
                  <a:ext uri="{0D108BD9-81ED-4DB2-BD59-A6C34878D82A}">
                    <a16:rowId xmlns:a16="http://schemas.microsoft.com/office/drawing/2014/main" val="2101321029"/>
                  </a:ext>
                </a:extLst>
              </a:tr>
              <a:tr h="618119">
                <a:tc>
                  <a:txBody>
                    <a:bodyPr/>
                    <a:lstStyle/>
                    <a:p>
                      <a:pPr algn="ctr"/>
                      <a:r>
                        <a:rPr lang="en-US" sz="1600" b="1" dirty="0">
                          <a:latin typeface="+mj-lt"/>
                        </a:rPr>
                        <a:t>9.0-10.0</a:t>
                      </a:r>
                    </a:p>
                  </a:txBody>
                  <a:tcPr/>
                </a:tc>
                <a:tc>
                  <a:txBody>
                    <a:bodyPr/>
                    <a:lstStyle/>
                    <a:p>
                      <a:pPr algn="ctr"/>
                      <a:r>
                        <a:rPr lang="en-US" sz="1600" b="1" dirty="0">
                          <a:latin typeface="+mj-lt"/>
                        </a:rPr>
                        <a:t>Critical</a:t>
                      </a:r>
                    </a:p>
                  </a:txBody>
                  <a:tcPr/>
                </a:tc>
                <a:tc>
                  <a:txBody>
                    <a:bodyPr/>
                    <a:lstStyle/>
                    <a:p>
                      <a:pPr algn="ctr"/>
                      <a:r>
                        <a:rPr lang="en-US" sz="1600" b="1" dirty="0">
                          <a:latin typeface="+mj-lt"/>
                        </a:rPr>
                        <a:t>Severe, urgent fix required</a:t>
                      </a:r>
                    </a:p>
                  </a:txBody>
                  <a:tcPr/>
                </a:tc>
                <a:extLst>
                  <a:ext uri="{0D108BD9-81ED-4DB2-BD59-A6C34878D82A}">
                    <a16:rowId xmlns:a16="http://schemas.microsoft.com/office/drawing/2014/main" val="3218164149"/>
                  </a:ext>
                </a:extLst>
              </a:tr>
            </a:tbl>
          </a:graphicData>
        </a:graphic>
      </p:graphicFrame>
    </p:spTree>
    <p:extLst>
      <p:ext uri="{BB962C8B-B14F-4D97-AF65-F5344CB8AC3E}">
        <p14:creationId xmlns:p14="http://schemas.microsoft.com/office/powerpoint/2010/main" val="563786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5910" y="1902542"/>
            <a:ext cx="9615948" cy="2564805"/>
          </a:xfrm>
          <a:prstGeom prst="rect">
            <a:avLst/>
          </a:prstGeom>
          <a:noFill/>
        </p:spPr>
        <p:txBody>
          <a:bodyPr wrap="square">
            <a:spAutoFit/>
          </a:bodyPr>
          <a:lstStyle/>
          <a:p>
            <a:pPr marL="342900" indent="-342900">
              <a:spcAft>
                <a:spcPts val="1000"/>
              </a:spcAft>
              <a:buFont typeface="Arial" panose="020B0604020202020204" pitchFamily="34" charset="0"/>
              <a:buChar char="•"/>
              <a:defRPr sz="1800"/>
            </a:pPr>
            <a:r>
              <a:rPr sz="2400" dirty="0">
                <a:latin typeface="+mj-lt"/>
              </a:rPr>
              <a:t>The DVWA + ZAP setup demonstrates practical web vulnerability testing.</a:t>
            </a:r>
          </a:p>
          <a:p>
            <a:pPr marL="342900" indent="-342900">
              <a:spcAft>
                <a:spcPts val="1000"/>
              </a:spcAft>
              <a:buFont typeface="Arial" panose="020B0604020202020204" pitchFamily="34" charset="0"/>
              <a:buChar char="•"/>
              <a:defRPr sz="1800"/>
            </a:pPr>
            <a:r>
              <a:rPr sz="2400" dirty="0">
                <a:latin typeface="+mj-lt"/>
              </a:rPr>
              <a:t>Manual exploration, authentication handling, and active scanning were completed successfully.</a:t>
            </a:r>
          </a:p>
          <a:p>
            <a:pPr marL="342900" indent="-342900">
              <a:spcAft>
                <a:spcPts val="1000"/>
              </a:spcAft>
              <a:buFont typeface="Arial" panose="020B0604020202020204" pitchFamily="34" charset="0"/>
              <a:buChar char="•"/>
              <a:defRPr sz="1800"/>
            </a:pPr>
            <a:r>
              <a:rPr sz="2400" dirty="0">
                <a:latin typeface="+mj-lt"/>
              </a:rPr>
              <a:t>This project helps understand real-world detection of XSS and other web vulnerabilities.</a:t>
            </a:r>
          </a:p>
        </p:txBody>
      </p:sp>
      <p:sp>
        <p:nvSpPr>
          <p:cNvPr id="6" name="Title 1">
            <a:extLst>
              <a:ext uri="{FF2B5EF4-FFF2-40B4-BE49-F238E27FC236}">
                <a16:creationId xmlns:a16="http://schemas.microsoft.com/office/drawing/2014/main" id="{C0FA8CDD-405E-AF78-3B13-3DB3E25DCB67}"/>
              </a:ext>
            </a:extLst>
          </p:cNvPr>
          <p:cNvSpPr txBox="1">
            <a:spLocks/>
          </p:cNvSpPr>
          <p:nvPr/>
        </p:nvSpPr>
        <p:spPr>
          <a:xfrm>
            <a:off x="646111" y="452718"/>
            <a:ext cx="9404723" cy="1125359"/>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t>CONCLUSION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5" name="Picture 14" descr="abstract design">
            <a:extLst>
              <a:ext uri="{FF2B5EF4-FFF2-40B4-BE49-F238E27FC236}">
                <a16:creationId xmlns:a16="http://schemas.microsoft.com/office/drawing/2014/main" id="{6D363037-1741-4470-A023-883E2FFD5840}"/>
              </a:ext>
            </a:extLst>
          </p:cNvPr>
          <p:cNvPicPr>
            <a:picLocks noChangeAspect="1"/>
          </p:cNvPicPr>
          <p:nvPr/>
        </p:nvPicPr>
        <p:blipFill rotWithShape="1">
          <a:blip r:embed="rId4">
            <a:duotone>
              <a:prstClr val="black"/>
              <a:schemeClr val="accent5">
                <a:tint val="45000"/>
                <a:satMod val="400000"/>
              </a:schemeClr>
            </a:duotone>
            <a:alphaModFix amt="25000"/>
          </a:blip>
          <a:srcRect t="18308" r="6818" b="2872"/>
          <a:stretch/>
        </p:blipFill>
        <p:spPr>
          <a:xfrm flipH="1">
            <a:off x="20" y="10"/>
            <a:ext cx="12191980" cy="6857990"/>
          </a:xfrm>
          <a:prstGeom prst="rect">
            <a:avLst/>
          </a:prstGeom>
        </p:spPr>
      </p:pic>
      <p:sp>
        <p:nvSpPr>
          <p:cNvPr id="12" name="Title 11">
            <a:extLst>
              <a:ext uri="{FF2B5EF4-FFF2-40B4-BE49-F238E27FC236}">
                <a16:creationId xmlns:a16="http://schemas.microsoft.com/office/drawing/2014/main" id="{970C361B-D32E-42E0-A41E-86C3D9AC886F}"/>
              </a:ext>
            </a:extLst>
          </p:cNvPr>
          <p:cNvSpPr>
            <a:spLocks noGrp="1"/>
          </p:cNvSpPr>
          <p:nvPr>
            <p:ph type="ctrTitle"/>
          </p:nvPr>
        </p:nvSpPr>
        <p:spPr>
          <a:xfrm>
            <a:off x="1154955" y="1447800"/>
            <a:ext cx="8825658" cy="3329581"/>
          </a:xfrm>
        </p:spPr>
        <p:txBody>
          <a:bodyPr>
            <a:normAutofit/>
          </a:bodyPr>
          <a:lstStyle/>
          <a:p>
            <a:r>
              <a:rPr lang="en-US" dirty="0"/>
              <a:t>Thank You!</a:t>
            </a:r>
            <a:endParaRPr lang="ru-RU" dirty="0"/>
          </a:p>
        </p:txBody>
      </p:sp>
      <p:sp>
        <p:nvSpPr>
          <p:cNvPr id="57" name="Rectangle 56">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5107679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M78884036_DIGITAL ION DESIGN_SL_V1.pptx" id="{AD58A1CE-E9E9-4C2E-83A0-65FD4522F93A}" vid="{1E9553B9-AA04-4A15-9836-1E06682578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C30393A-FEC6-4A44-9E4A-6EA49F1F7D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16958A-754B-4396-9457-FD7A427A37DD}">
  <ds:schemaRefs>
    <ds:schemaRef ds:uri="http://schemas.microsoft.com/sharepoint/v3/contenttype/forms"/>
  </ds:schemaRefs>
</ds:datastoreItem>
</file>

<file path=customXml/itemProps3.xml><?xml version="1.0" encoding="utf-8"?>
<ds:datastoreItem xmlns:ds="http://schemas.openxmlformats.org/officeDocument/2006/customXml" ds:itemID="{048C88F1-1664-415F-AFCE-F6CF45809817}">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TM16401371[[fn=Atlas]]</Template>
  <TotalTime>4536</TotalTime>
  <Words>1519</Words>
  <Application>Microsoft Office PowerPoint</Application>
  <PresentationFormat>Widescreen</PresentationFormat>
  <Paragraphs>162</Paragraphs>
  <Slides>30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Century Gothic</vt:lpstr>
      <vt:lpstr>Wingdings 3</vt:lpstr>
      <vt:lpstr>Ion</vt:lpstr>
      <vt:lpstr> OWASP ZAP </vt:lpstr>
      <vt:lpstr>VULNERABILITY </vt:lpstr>
      <vt:lpstr> OWASP ZAP </vt:lpstr>
      <vt:lpstr>OWASP SCAN TYPES </vt:lpstr>
      <vt:lpstr>PowerPoint Presentation</vt:lpstr>
      <vt:lpstr>DOCKER</vt:lpstr>
      <vt:lpstr>DOCKER AND OWASP ZAP SETUP</vt:lpstr>
      <vt:lpstr>DVWA DEPLOYMENT</vt:lpstr>
      <vt:lpstr>DOCKER AND LOCAL DEPLOYMENT</vt:lpstr>
      <vt:lpstr>PowerPoint Presentation</vt:lpstr>
      <vt:lpstr>DVWA BROWSER </vt:lpstr>
      <vt:lpstr>DVWA SETUP</vt:lpstr>
      <vt:lpstr>PowerPoint Presentation</vt:lpstr>
      <vt:lpstr>MANUAL EXPLORE IN ZAP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ZAP SCAN REPORT</vt:lpstr>
      <vt:lpstr>PowerPoint Presentation</vt:lpstr>
      <vt:lpstr>DVWA SQL INJECTION</vt:lpstr>
      <vt:lpstr>MISSING CSP VULNERABILITY</vt:lpstr>
      <vt:lpstr>MISSING X-FRAME-OPTIONS VULNERABILITY</vt:lpstr>
      <vt:lpstr>COOKIE WITHOUT HTTPONLY FLAG VULNERABILITY</vt:lpstr>
      <vt:lpstr>CVSS SCORE LEVELS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 R</dc:creator>
  <cp:lastModifiedBy>Venky Raghul</cp:lastModifiedBy>
  <cp:revision>92</cp:revision>
  <dcterms:created xsi:type="dcterms:W3CDTF">2026-03-24T06:01:28Z</dcterms:created>
  <dcterms:modified xsi:type="dcterms:W3CDTF">2026-04-22T15:56:39Z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